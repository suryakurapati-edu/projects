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6E6E"/>
    <a:srgbClr val="7575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1"/>
  </p:normalViewPr>
  <p:slideViewPr>
    <p:cSldViewPr snapToGrid="0">
      <p:cViewPr varScale="1">
        <p:scale>
          <a:sx n="110" d="100"/>
          <a:sy n="110" d="100"/>
        </p:scale>
        <p:origin x="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DD9A-603C-956C-8308-B2244BE30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4A53AA-BDA9-09E0-ACF4-C290FC5BE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AA977-10C5-2959-0A2C-FE30D426E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A772E-40BD-F6AE-8147-1232BAC4E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E220A-F202-EFC9-1630-998DF7661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818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641EF-C2D2-4C46-B32F-021787443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9B1F6-4D40-4125-B4D3-346D5B68C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D13AA-C90F-A072-DBF1-7AD63128D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D5CE-DA9E-9033-CE41-C14104E96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4BB2F-E400-1C84-38B4-B0D0FE024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912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1167-59BB-F0F2-1A6D-9C1373E04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B4906D-25CE-3BBF-14B3-55F539785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3D499-DB67-9EF3-7649-BC5580911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FCC94-B088-9B1E-2BDE-C8D45612F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F97B6-B647-3613-9FC1-648C3944C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313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252C0-3424-116E-5D5E-966856817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EC9A-7BEB-DFF7-77EC-3891B75971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DEE31D-31F9-F00D-DEED-5633715318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B7848F-C29B-E234-73C3-D98D034D3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CE7952-39CB-11DF-0554-931C00ED9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569822-10D1-7F8E-8C93-07452D11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550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75755-3108-2B5E-D88F-D5AD31072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909056-806D-72CC-FEFF-7514050C5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AE8634-6284-669C-C19F-3CE34E90C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4178AB-B19E-23C2-33E3-6E517FC6E2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24EE55-C6CB-5558-A8C1-9F6EC47F46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625B9E-1EC0-D1AD-50B7-383A7069E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096D7D-3DB1-0F09-8DC0-68667A46A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B53094-A3F9-B8BC-610A-0E0550C06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727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79175-A509-C951-35C4-26525F93F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F878F4-A1F0-891C-6C7E-7FFD2D29F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3FC1A-0C7B-D2B2-8EEF-10D93628E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919B2D-FE18-6754-E893-CE2C4D590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149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81AEF-319A-5FF9-148A-AEB38C99F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E625AF-B74B-B86D-8A3B-A3DBE10A3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76858-B461-40FA-BB91-F271E305F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00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41692-DB5F-2F75-FA64-299276204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51581-7376-9436-337D-D4CB0B8E0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B79E1F-002E-151F-D488-DDDC98A552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CD8595-83E5-8015-5384-3D373E696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1D3C6-59CB-FD0B-AC5A-8128D5091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C581BB-0480-CC21-0094-FB3286A68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776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7EB4A-F381-66FC-6113-8CC4F2A06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491CE5-2EE5-AD51-293C-8E755B64D8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76A40-D442-6019-990F-D40E883475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6E42A6-8424-5450-94D2-28F0A0D71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142A8-D390-7380-451F-4457C59C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7EAE51-CD0E-62D3-AEF4-ED3F29178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859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856F2-FAF7-7789-CFD0-FF7DCA444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D8B976-AC77-C915-9E15-4DF8C0BB30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1A934-9FF1-EDB4-1F63-6802C7D59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B2EAE-6D1D-A8C9-6589-E1168AEA3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F2402-C846-62C6-663B-B44236924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586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70BB6B-1D84-DFD0-853B-EDAA4063AA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98AA08-3A50-CF64-A7C7-CDC197A35F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4433A-91C6-AF71-B079-C690D484F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846EC-020E-160D-62FF-1A8F3867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6A4FF-E150-113C-8FCA-1A59D177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715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695EF9-8E6E-C07B-BC80-7149D40B9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5E5815-627E-38D0-CF35-48671A92F3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EDC30-69E7-74E4-15B8-0B3FCF2E08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ADF483-D3D6-8A4A-BB74-78EECF92337A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10F78-594C-8C77-F128-795901A671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0EDB7-306F-C89A-BB77-824A0D271F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B0753E-8587-A14A-8815-4787CDF21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23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BAF1CE-EF0B-8829-61F5-A22D7957D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350" y="2082800"/>
            <a:ext cx="6337300" cy="2692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965A77-FB2E-2D62-F3B4-3F76B55878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497"/>
          <a:stretch>
            <a:fillRect/>
          </a:stretch>
        </p:blipFill>
        <p:spPr>
          <a:xfrm>
            <a:off x="3168454" y="2321951"/>
            <a:ext cx="1409700" cy="7729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1812DD-AECD-656A-1A3A-7EA49642A6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4857" y="4164034"/>
            <a:ext cx="515071" cy="54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67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06DD-C14A-82A2-E9D8-D5B12DB42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FAAD847-93D5-ED47-A62B-E21C0BF199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23"/>
          <a:stretch>
            <a:fillRect/>
          </a:stretch>
        </p:blipFill>
        <p:spPr>
          <a:xfrm>
            <a:off x="524065" y="3106155"/>
            <a:ext cx="1188984" cy="12719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EDEB55D-28B2-9E2F-80E0-37E1E561F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923" y="1822188"/>
            <a:ext cx="1910397" cy="16821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592FB4-4CD9-67C1-DA46-5DEE023418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3923" y="3850141"/>
            <a:ext cx="1910397" cy="16821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C59935-A133-35E5-D1BB-73CC27EDA1C9}"/>
              </a:ext>
            </a:extLst>
          </p:cNvPr>
          <p:cNvSpPr txBox="1"/>
          <p:nvPr/>
        </p:nvSpPr>
        <p:spPr>
          <a:xfrm>
            <a:off x="523912" y="4285532"/>
            <a:ext cx="14553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Domain: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9287BE-FF4C-7B6F-7450-EFD9CD97FDA1}"/>
              </a:ext>
            </a:extLst>
          </p:cNvPr>
          <p:cNvSpPr txBox="1"/>
          <p:nvPr/>
        </p:nvSpPr>
        <p:spPr>
          <a:xfrm>
            <a:off x="2656406" y="3492777"/>
            <a:ext cx="20429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Department: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Radiology (X-Ray)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DA7FFA-110C-CA2F-D93D-11E779F4C937}"/>
              </a:ext>
            </a:extLst>
          </p:cNvPr>
          <p:cNvSpPr txBox="1"/>
          <p:nvPr/>
        </p:nvSpPr>
        <p:spPr>
          <a:xfrm>
            <a:off x="2608173" y="5530017"/>
            <a:ext cx="21605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Technology: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rtificial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ntelligence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9EA88-993E-AE78-2C25-AD4CB6D059B0}"/>
              </a:ext>
            </a:extLst>
          </p:cNvPr>
          <p:cNvSpPr txBox="1"/>
          <p:nvPr/>
        </p:nvSpPr>
        <p:spPr>
          <a:xfrm>
            <a:off x="5705705" y="4324710"/>
            <a:ext cx="21605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Product: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iology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IQ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AC6F3EE-7429-8CD1-8886-D01A490A61F3}"/>
              </a:ext>
            </a:extLst>
          </p:cNvPr>
          <p:cNvSpPr/>
          <p:nvPr/>
        </p:nvSpPr>
        <p:spPr>
          <a:xfrm>
            <a:off x="9259750" y="2384398"/>
            <a:ext cx="2048719" cy="668547"/>
          </a:xfrm>
          <a:prstGeom prst="ellipse">
            <a:avLst/>
          </a:prstGeom>
          <a:solidFill>
            <a:srgbClr val="7575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E01B447-F61A-25BE-38E3-1EF737668BDA}"/>
              </a:ext>
            </a:extLst>
          </p:cNvPr>
          <p:cNvSpPr/>
          <p:nvPr/>
        </p:nvSpPr>
        <p:spPr>
          <a:xfrm>
            <a:off x="9259750" y="3801711"/>
            <a:ext cx="2048719" cy="668547"/>
          </a:xfrm>
          <a:prstGeom prst="ellipse">
            <a:avLst/>
          </a:prstGeom>
          <a:solidFill>
            <a:srgbClr val="7575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78F6CF-3225-6AA5-C6BA-7A3D4F3174D5}"/>
              </a:ext>
            </a:extLst>
          </p:cNvPr>
          <p:cNvSpPr txBox="1"/>
          <p:nvPr/>
        </p:nvSpPr>
        <p:spPr>
          <a:xfrm>
            <a:off x="9259744" y="2581165"/>
            <a:ext cx="21991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Concept 1: Explainable AI (</a:t>
            </a: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XAI</a:t>
            </a: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6B6DA4-1B52-0018-EB8D-94E1B9FC2DE8}"/>
              </a:ext>
            </a:extLst>
          </p:cNvPr>
          <p:cNvSpPr txBox="1"/>
          <p:nvPr/>
        </p:nvSpPr>
        <p:spPr>
          <a:xfrm>
            <a:off x="9225019" y="4012355"/>
            <a:ext cx="21991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Concept 2: Generative AI (</a:t>
            </a: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GenAI</a:t>
            </a: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697931-32B6-6997-9891-DECD73F17DA9}"/>
              </a:ext>
            </a:extLst>
          </p:cNvPr>
          <p:cNvSpPr txBox="1"/>
          <p:nvPr/>
        </p:nvSpPr>
        <p:spPr>
          <a:xfrm>
            <a:off x="10359340" y="5300201"/>
            <a:ext cx="16204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arge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anguage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odel</a:t>
            </a:r>
          </a:p>
          <a:p>
            <a:pPr algn="ctr"/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(gemini-1.5-pro)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24CB56-246D-2208-AFAC-A8BA44261DD9}"/>
              </a:ext>
            </a:extLst>
          </p:cNvPr>
          <p:cNvSpPr txBox="1"/>
          <p:nvPr/>
        </p:nvSpPr>
        <p:spPr>
          <a:xfrm>
            <a:off x="8599987" y="4928794"/>
            <a:ext cx="20487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onvolutional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eural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etwork</a:t>
            </a:r>
          </a:p>
          <a:p>
            <a:pPr algn="ctr"/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(DenseNet121)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DB93178-2C09-4595-42CB-0845D751F285}"/>
              </a:ext>
            </a:extLst>
          </p:cNvPr>
          <p:cNvCxnSpPr>
            <a:cxnSpLocks/>
            <a:stCxn id="12" idx="4"/>
            <a:endCxn id="16" idx="0"/>
          </p:cNvCxnSpPr>
          <p:nvPr/>
        </p:nvCxnSpPr>
        <p:spPr>
          <a:xfrm flipH="1">
            <a:off x="9624347" y="4470258"/>
            <a:ext cx="659763" cy="458536"/>
          </a:xfrm>
          <a:prstGeom prst="straightConnector1">
            <a:avLst/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E2124EA-18D9-3244-A0FB-ECA3D75E4FD3}"/>
              </a:ext>
            </a:extLst>
          </p:cNvPr>
          <p:cNvCxnSpPr>
            <a:stCxn id="12" idx="4"/>
            <a:endCxn id="15" idx="0"/>
          </p:cNvCxnSpPr>
          <p:nvPr/>
        </p:nvCxnSpPr>
        <p:spPr>
          <a:xfrm>
            <a:off x="10284110" y="4470258"/>
            <a:ext cx="885458" cy="829943"/>
          </a:xfrm>
          <a:prstGeom prst="straightConnector1">
            <a:avLst/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993FBC0-96E2-3CDE-8044-D05256C0146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1713049" y="2663270"/>
            <a:ext cx="1010874" cy="1078873"/>
          </a:xfrm>
          <a:prstGeom prst="straightConnector1">
            <a:avLst/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10018A6-7D38-F1F2-5AB2-6D03D77EFFBA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1713049" y="3742143"/>
            <a:ext cx="1010874" cy="949080"/>
          </a:xfrm>
          <a:prstGeom prst="straightConnector1">
            <a:avLst/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D3D1A9A7-37A2-0851-FD21-035E2ADB21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7080" y="3202706"/>
            <a:ext cx="2330948" cy="11340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A483101-29BD-8E55-CAE2-FD3F5D2AB3F9}"/>
              </a:ext>
            </a:extLst>
          </p:cNvPr>
          <p:cNvCxnSpPr/>
          <p:nvPr/>
        </p:nvCxnSpPr>
        <p:spPr>
          <a:xfrm>
            <a:off x="5116007" y="1215342"/>
            <a:ext cx="0" cy="5092861"/>
          </a:xfrm>
          <a:prstGeom prst="line">
            <a:avLst/>
          </a:prstGeom>
          <a:ln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5E8E1D6-CC92-6774-378B-FC33676D26CD}"/>
              </a:ext>
            </a:extLst>
          </p:cNvPr>
          <p:cNvCxnSpPr/>
          <p:nvPr/>
        </p:nvCxnSpPr>
        <p:spPr>
          <a:xfrm>
            <a:off x="8370422" y="1221473"/>
            <a:ext cx="0" cy="5092861"/>
          </a:xfrm>
          <a:prstGeom prst="line">
            <a:avLst/>
          </a:prstGeom>
          <a:ln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2DF4A2-2466-735B-3260-DF4733E10028}"/>
              </a:ext>
            </a:extLst>
          </p:cNvPr>
          <p:cNvSpPr txBox="1"/>
          <p:nvPr/>
        </p:nvSpPr>
        <p:spPr>
          <a:xfrm>
            <a:off x="1520167" y="1076574"/>
            <a:ext cx="2407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6E6E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 &amp; Technology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842A5-9880-DEDB-B6A1-C5D49D0CF13D}"/>
              </a:ext>
            </a:extLst>
          </p:cNvPr>
          <p:cNvSpPr txBox="1"/>
          <p:nvPr/>
        </p:nvSpPr>
        <p:spPr>
          <a:xfrm>
            <a:off x="6070918" y="1076574"/>
            <a:ext cx="1045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6E6E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98A33F-5B52-CE72-CFC1-CA69BDD6E659}"/>
              </a:ext>
            </a:extLst>
          </p:cNvPr>
          <p:cNvSpPr txBox="1"/>
          <p:nvPr/>
        </p:nvSpPr>
        <p:spPr>
          <a:xfrm>
            <a:off x="9355231" y="1076574"/>
            <a:ext cx="1684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6E6E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Concepts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2B08A6-B97E-B691-EF8C-8E96D24559D1}"/>
              </a:ext>
            </a:extLst>
          </p:cNvPr>
          <p:cNvSpPr txBox="1"/>
          <p:nvPr/>
        </p:nvSpPr>
        <p:spPr>
          <a:xfrm>
            <a:off x="3784928" y="241947"/>
            <a:ext cx="479190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High-Level Product Architecture</a:t>
            </a:r>
          </a:p>
        </p:txBody>
      </p:sp>
    </p:spTree>
    <p:extLst>
      <p:ext uri="{BB962C8B-B14F-4D97-AF65-F5344CB8AC3E}">
        <p14:creationId xmlns:p14="http://schemas.microsoft.com/office/powerpoint/2010/main" val="1674306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99585F-251F-EDD7-5D16-2D476BAC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26" y="3687803"/>
            <a:ext cx="850705" cy="10424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602E6E-80E3-6EB6-6695-959BE3E7CE1A}"/>
              </a:ext>
            </a:extLst>
          </p:cNvPr>
          <p:cNvSpPr txBox="1"/>
          <p:nvPr/>
        </p:nvSpPr>
        <p:spPr>
          <a:xfrm>
            <a:off x="694701" y="4707115"/>
            <a:ext cx="12325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User: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Radiologist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28F1D74-004D-96F7-8BA7-7A1FAEBE4193}"/>
              </a:ext>
            </a:extLst>
          </p:cNvPr>
          <p:cNvCxnSpPr/>
          <p:nvPr/>
        </p:nvCxnSpPr>
        <p:spPr>
          <a:xfrm flipV="1">
            <a:off x="1294228" y="2419643"/>
            <a:ext cx="1026941" cy="844062"/>
          </a:xfrm>
          <a:prstGeom prst="bentConnector3">
            <a:avLst>
              <a:gd name="adj1" fmla="val -685"/>
            </a:avLst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810A133B-F7FD-F003-1182-9318191E657E}"/>
              </a:ext>
            </a:extLst>
          </p:cNvPr>
          <p:cNvCxnSpPr/>
          <p:nvPr/>
        </p:nvCxnSpPr>
        <p:spPr>
          <a:xfrm rot="16200000" flipH="1">
            <a:off x="9263573" y="2736166"/>
            <a:ext cx="1547446" cy="914400"/>
          </a:xfrm>
          <a:prstGeom prst="bentConnector3">
            <a:avLst>
              <a:gd name="adj1" fmla="val 0"/>
            </a:avLst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22739F9-D39D-FA0A-2EDE-1D83AD563B6A}"/>
              </a:ext>
            </a:extLst>
          </p:cNvPr>
          <p:cNvSpPr txBox="1"/>
          <p:nvPr/>
        </p:nvSpPr>
        <p:spPr>
          <a:xfrm>
            <a:off x="1261751" y="2076789"/>
            <a:ext cx="12000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6E6E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Request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25F06D-ED35-FCE4-9259-3D3B53C2E71C}"/>
              </a:ext>
            </a:extLst>
          </p:cNvPr>
          <p:cNvSpPr txBox="1"/>
          <p:nvPr/>
        </p:nvSpPr>
        <p:spPr>
          <a:xfrm>
            <a:off x="10530073" y="3034425"/>
            <a:ext cx="766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6E6E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76557E-C6E8-5357-CD1C-776605FCA4E0}"/>
              </a:ext>
            </a:extLst>
          </p:cNvPr>
          <p:cNvSpPr txBox="1"/>
          <p:nvPr/>
        </p:nvSpPr>
        <p:spPr>
          <a:xfrm>
            <a:off x="4143738" y="407846"/>
            <a:ext cx="324091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Workflow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2FCD204-BAB0-F2CB-EC1C-6AF66313C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6746" y="1659822"/>
            <a:ext cx="7099267" cy="202798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B09A284-3EFE-E968-4348-15401C5828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38" y="4092335"/>
            <a:ext cx="7772400" cy="246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872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D05E8FB-C247-537D-46FA-326A4D0F8553}"/>
              </a:ext>
            </a:extLst>
          </p:cNvPr>
          <p:cNvSpPr txBox="1"/>
          <p:nvPr/>
        </p:nvSpPr>
        <p:spPr>
          <a:xfrm>
            <a:off x="119582" y="3497561"/>
            <a:ext cx="2451296" cy="798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>
              <a:lnSpc>
                <a:spcPts val="1350"/>
              </a:lnSpc>
              <a:buNone/>
            </a:pP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1100" b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xray_id</a:t>
            </a: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": "person3_bacteria_10",</a:t>
            </a:r>
          </a:p>
          <a:p>
            <a:pPr>
              <a:lnSpc>
                <a:spcPts val="1350"/>
              </a:lnSpc>
              <a:buNone/>
            </a:pP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"query": "Diagnose the Xray"</a:t>
            </a:r>
          </a:p>
          <a:p>
            <a:pPr>
              <a:lnSpc>
                <a:spcPts val="1350"/>
              </a:lnSpc>
              <a:buNone/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62D122-B792-ECCA-F35F-EC5F67788E32}"/>
              </a:ext>
            </a:extLst>
          </p:cNvPr>
          <p:cNvSpPr/>
          <p:nvPr/>
        </p:nvSpPr>
        <p:spPr>
          <a:xfrm>
            <a:off x="119582" y="3497561"/>
            <a:ext cx="2391518" cy="8246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78C8BD-2020-4B76-41BD-37174FEC2BEA}"/>
              </a:ext>
            </a:extLst>
          </p:cNvPr>
          <p:cNvSpPr txBox="1"/>
          <p:nvPr/>
        </p:nvSpPr>
        <p:spPr>
          <a:xfrm>
            <a:off x="2613082" y="3738235"/>
            <a:ext cx="586155" cy="26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B48CC-961F-39F7-EE5F-687F580F1772}"/>
              </a:ext>
            </a:extLst>
          </p:cNvPr>
          <p:cNvSpPr txBox="1"/>
          <p:nvPr/>
        </p:nvSpPr>
        <p:spPr>
          <a:xfrm>
            <a:off x="4681004" y="4020054"/>
            <a:ext cx="1375115" cy="43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IN" sz="11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 X-Ray</a:t>
            </a:r>
          </a:p>
          <a:p>
            <a:pPr algn="ctr">
              <a:lnSpc>
                <a:spcPts val="1350"/>
              </a:lnSpc>
              <a:buNone/>
            </a:pP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PIL (pillow) Library</a:t>
            </a:r>
            <a:endParaRPr lang="en-IN" sz="1100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6EE8EB-02B3-F42C-2BAF-71B6201B3FC8}"/>
              </a:ext>
            </a:extLst>
          </p:cNvPr>
          <p:cNvSpPr/>
          <p:nvPr/>
        </p:nvSpPr>
        <p:spPr>
          <a:xfrm>
            <a:off x="4748422" y="4007822"/>
            <a:ext cx="1307697" cy="4968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1DA277-9E16-085F-2EBE-CE21D364AE93}"/>
              </a:ext>
            </a:extLst>
          </p:cNvPr>
          <p:cNvSpPr txBox="1"/>
          <p:nvPr/>
        </p:nvSpPr>
        <p:spPr>
          <a:xfrm>
            <a:off x="6437706" y="3151529"/>
            <a:ext cx="1375115" cy="43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IN" sz="11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Diagnose X-Ray</a:t>
            </a:r>
          </a:p>
          <a:p>
            <a:pPr algn="ctr">
              <a:lnSpc>
                <a:spcPts val="1350"/>
              </a:lnSpc>
              <a:buNone/>
            </a:pP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(DenseNet121)</a:t>
            </a:r>
            <a:endParaRPr lang="en-IN" sz="1100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378B17-00EB-61D1-D426-9208A498EE8E}"/>
              </a:ext>
            </a:extLst>
          </p:cNvPr>
          <p:cNvSpPr/>
          <p:nvPr/>
        </p:nvSpPr>
        <p:spPr>
          <a:xfrm>
            <a:off x="6462481" y="3151529"/>
            <a:ext cx="1350340" cy="4726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7A9A95-52C7-0429-0EDA-59180342B7CB}"/>
              </a:ext>
            </a:extLst>
          </p:cNvPr>
          <p:cNvSpPr txBox="1"/>
          <p:nvPr/>
        </p:nvSpPr>
        <p:spPr>
          <a:xfrm>
            <a:off x="8951706" y="2363576"/>
            <a:ext cx="3010467" cy="2953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>
              <a:lnSpc>
                <a:spcPts val="1350"/>
              </a:lnSpc>
              <a:buNone/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"</a:t>
            </a:r>
            <a:r>
              <a:rPr lang="en-IN" sz="1100" b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xray_id</a:t>
            </a: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": "person3_bacteria_10",</a:t>
            </a:r>
          </a:p>
          <a:p>
            <a:pPr>
              <a:lnSpc>
                <a:spcPts val="1350"/>
              </a:lnSpc>
              <a:buNone/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"findings": {</a:t>
            </a:r>
          </a:p>
          <a:p>
            <a:pPr>
              <a:lnSpc>
                <a:spcPts val="1350"/>
              </a:lnSpc>
              <a:buNone/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"Infiltration": 0.7697662711143494</a:t>
            </a:r>
          </a:p>
          <a:p>
            <a:pPr>
              <a:lnSpc>
                <a:spcPts val="1350"/>
              </a:lnSpc>
              <a:buNone/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},</a:t>
            </a:r>
          </a:p>
          <a:p>
            <a:pPr>
              <a:lnSpc>
                <a:spcPts val="1350"/>
              </a:lnSpc>
            </a:pP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"reasoning": "1. **Findings Summary** \</a:t>
            </a:r>
            <a:r>
              <a:rPr lang="en-IN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nThe</a:t>
            </a: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X-ray shows a notable infiltration.\n\n2. \</a:t>
            </a:r>
            <a:r>
              <a:rPr lang="en-IN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nThe</a:t>
            </a: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presence of infiltration on the X-ray often indicates an abnormal density in the lungs, which can be due to infection (such as pneumonia), fluid accumulation (like pulmonary </a:t>
            </a:r>
            <a:r>
              <a:rPr lang="en-IN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edema</a:t>
            </a: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interstitial inflammation (common in interstitial lung disease), or a mass (such as in lung neoplasm). Further clinical correlation and additional imaging may be required to reach a definitive diagnosis."</a:t>
            </a:r>
            <a:endParaRPr lang="en-IN" sz="1100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B2F095-E501-1CC7-439B-26D5E09FD94F}"/>
              </a:ext>
            </a:extLst>
          </p:cNvPr>
          <p:cNvSpPr txBox="1"/>
          <p:nvPr/>
        </p:nvSpPr>
        <p:spPr>
          <a:xfrm>
            <a:off x="13589391" y="3868615"/>
            <a:ext cx="1847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09765B-FD22-5D98-21AA-FCA1A4DFC36C}"/>
              </a:ext>
            </a:extLst>
          </p:cNvPr>
          <p:cNvSpPr txBox="1"/>
          <p:nvPr/>
        </p:nvSpPr>
        <p:spPr>
          <a:xfrm>
            <a:off x="7027959" y="4076406"/>
            <a:ext cx="1543936" cy="43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IN" sz="11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Reasoning</a:t>
            </a:r>
          </a:p>
          <a:p>
            <a:pPr algn="ctr">
              <a:lnSpc>
                <a:spcPts val="1350"/>
              </a:lnSpc>
              <a:buNone/>
            </a:pPr>
            <a:r>
              <a:rPr lang="en-I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(gemini-1.5-pro)</a:t>
            </a:r>
            <a:endParaRPr lang="en-IN" sz="1100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9BFF127-002A-5B75-63B7-83C7AD723D70}"/>
              </a:ext>
            </a:extLst>
          </p:cNvPr>
          <p:cNvSpPr/>
          <p:nvPr/>
        </p:nvSpPr>
        <p:spPr>
          <a:xfrm>
            <a:off x="7097118" y="4076405"/>
            <a:ext cx="1412632" cy="4726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DAFF3B-6140-8B2B-5F0A-1E443F733228}"/>
              </a:ext>
            </a:extLst>
          </p:cNvPr>
          <p:cNvSpPr txBox="1"/>
          <p:nvPr/>
        </p:nvSpPr>
        <p:spPr>
          <a:xfrm>
            <a:off x="772969" y="3165625"/>
            <a:ext cx="10617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 Body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96706E-5C8B-420E-AF60-4F3ADF0EB107}"/>
              </a:ext>
            </a:extLst>
          </p:cNvPr>
          <p:cNvSpPr/>
          <p:nvPr/>
        </p:nvSpPr>
        <p:spPr>
          <a:xfrm>
            <a:off x="3353983" y="3639760"/>
            <a:ext cx="1069725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Fast API</a:t>
            </a:r>
            <a:endParaRPr lang="en-GB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3DC886-7932-F234-1124-DB8824551908}"/>
              </a:ext>
            </a:extLst>
          </p:cNvPr>
          <p:cNvSpPr txBox="1"/>
          <p:nvPr/>
        </p:nvSpPr>
        <p:spPr>
          <a:xfrm>
            <a:off x="3370958" y="3888494"/>
            <a:ext cx="977712" cy="26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50"/>
              </a:lnSpc>
            </a:pPr>
            <a:r>
              <a:rPr lang="en-IN" sz="11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IN" sz="1100" b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analyze-xray</a:t>
            </a:r>
            <a:endParaRPr lang="en-IN" sz="1100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Can 24">
            <a:extLst>
              <a:ext uri="{FF2B5EF4-FFF2-40B4-BE49-F238E27FC236}">
                <a16:creationId xmlns:a16="http://schemas.microsoft.com/office/drawing/2014/main" id="{D72BADC9-1DC9-7ADE-09ED-B21B10B6EF09}"/>
              </a:ext>
            </a:extLst>
          </p:cNvPr>
          <p:cNvSpPr/>
          <p:nvPr/>
        </p:nvSpPr>
        <p:spPr>
          <a:xfrm>
            <a:off x="4394808" y="2587804"/>
            <a:ext cx="977712" cy="915676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485D77-7974-44E3-116D-BCB64B727E7B}"/>
              </a:ext>
            </a:extLst>
          </p:cNvPr>
          <p:cNvSpPr txBox="1"/>
          <p:nvPr/>
        </p:nvSpPr>
        <p:spPr>
          <a:xfrm>
            <a:off x="4379068" y="2973265"/>
            <a:ext cx="1018227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Storage</a:t>
            </a:r>
          </a:p>
          <a:p>
            <a:pPr algn="ctr"/>
            <a:endParaRPr lang="en-US" sz="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5000+ X-Rays</a:t>
            </a:r>
            <a:endParaRPr lang="en-IN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311C971-848B-C675-EDD0-40B4E8D7291A}"/>
              </a:ext>
            </a:extLst>
          </p:cNvPr>
          <p:cNvCxnSpPr>
            <a:cxnSpLocks/>
          </p:cNvCxnSpPr>
          <p:nvPr/>
        </p:nvCxnSpPr>
        <p:spPr>
          <a:xfrm>
            <a:off x="2629053" y="3983062"/>
            <a:ext cx="554212" cy="0"/>
          </a:xfrm>
          <a:prstGeom prst="straightConnector1">
            <a:avLst/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2FB3F01F-16FF-D0DB-601A-B0F1112440AC}"/>
              </a:ext>
            </a:extLst>
          </p:cNvPr>
          <p:cNvCxnSpPr/>
          <p:nvPr/>
        </p:nvCxnSpPr>
        <p:spPr>
          <a:xfrm flipV="1">
            <a:off x="3868615" y="3151529"/>
            <a:ext cx="379828" cy="319990"/>
          </a:xfrm>
          <a:prstGeom prst="bentConnector3">
            <a:avLst>
              <a:gd name="adj1" fmla="val -1852"/>
            </a:avLst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4AB9B0B1-53F3-A0DC-AA21-9E8D7E942187}"/>
              </a:ext>
            </a:extLst>
          </p:cNvPr>
          <p:cNvCxnSpPr/>
          <p:nvPr/>
        </p:nvCxnSpPr>
        <p:spPr>
          <a:xfrm rot="16200000" flipH="1">
            <a:off x="5286730" y="3435605"/>
            <a:ext cx="736965" cy="168812"/>
          </a:xfrm>
          <a:prstGeom prst="bentConnector3">
            <a:avLst>
              <a:gd name="adj1" fmla="val 2279"/>
            </a:avLst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AF1B09BF-F85B-DBEB-B8A0-D322B21ED1A9}"/>
              </a:ext>
            </a:extLst>
          </p:cNvPr>
          <p:cNvCxnSpPr/>
          <p:nvPr/>
        </p:nvCxnSpPr>
        <p:spPr>
          <a:xfrm rot="16200000" flipH="1">
            <a:off x="7818925" y="3586456"/>
            <a:ext cx="554062" cy="239150"/>
          </a:xfrm>
          <a:prstGeom prst="bentConnector3">
            <a:avLst>
              <a:gd name="adj1" fmla="val 4298"/>
            </a:avLst>
          </a:prstGeom>
          <a:ln>
            <a:solidFill>
              <a:srgbClr val="757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A30E030-63AB-EB95-F821-EAC19C234302}"/>
              </a:ext>
            </a:extLst>
          </p:cNvPr>
          <p:cNvCxnSpPr/>
          <p:nvPr/>
        </p:nvCxnSpPr>
        <p:spPr>
          <a:xfrm>
            <a:off x="3317652" y="1857139"/>
            <a:ext cx="0" cy="3981157"/>
          </a:xfrm>
          <a:prstGeom prst="line">
            <a:avLst/>
          </a:prstGeom>
          <a:ln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DA76C5B-02EC-2FFC-BCC5-8C87E547347E}"/>
              </a:ext>
            </a:extLst>
          </p:cNvPr>
          <p:cNvCxnSpPr/>
          <p:nvPr/>
        </p:nvCxnSpPr>
        <p:spPr>
          <a:xfrm>
            <a:off x="6283591" y="1857139"/>
            <a:ext cx="0" cy="3981157"/>
          </a:xfrm>
          <a:prstGeom prst="line">
            <a:avLst/>
          </a:prstGeom>
          <a:ln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E95E55C-D0EF-6F60-435B-AA8903089134}"/>
              </a:ext>
            </a:extLst>
          </p:cNvPr>
          <p:cNvCxnSpPr/>
          <p:nvPr/>
        </p:nvCxnSpPr>
        <p:spPr>
          <a:xfrm>
            <a:off x="8700890" y="1857139"/>
            <a:ext cx="0" cy="3981157"/>
          </a:xfrm>
          <a:prstGeom prst="line">
            <a:avLst/>
          </a:prstGeom>
          <a:ln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67547A8-615C-5092-FC8D-5D2B6F9CF7AA}"/>
              </a:ext>
            </a:extLst>
          </p:cNvPr>
          <p:cNvSpPr txBox="1"/>
          <p:nvPr/>
        </p:nvSpPr>
        <p:spPr>
          <a:xfrm>
            <a:off x="836277" y="1487807"/>
            <a:ext cx="147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6E6E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Layer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674C414-B69F-B4F1-F585-B078335213E7}"/>
              </a:ext>
            </a:extLst>
          </p:cNvPr>
          <p:cNvSpPr txBox="1"/>
          <p:nvPr/>
        </p:nvSpPr>
        <p:spPr>
          <a:xfrm>
            <a:off x="4099982" y="1487807"/>
            <a:ext cx="147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5757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Layer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11EBCE4-88ED-A9FE-C243-9358FD20328B}"/>
              </a:ext>
            </a:extLst>
          </p:cNvPr>
          <p:cNvSpPr txBox="1"/>
          <p:nvPr/>
        </p:nvSpPr>
        <p:spPr>
          <a:xfrm>
            <a:off x="6979251" y="1487807"/>
            <a:ext cx="147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6E6E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Layer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640EF99-B836-5C9E-1C29-D2ECCFF29C3C}"/>
              </a:ext>
            </a:extLst>
          </p:cNvPr>
          <p:cNvSpPr txBox="1"/>
          <p:nvPr/>
        </p:nvSpPr>
        <p:spPr>
          <a:xfrm>
            <a:off x="9637118" y="1487807"/>
            <a:ext cx="1616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6E6E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 Layer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7E5B1D-1E2B-2529-F4DB-7AD167C15100}"/>
              </a:ext>
            </a:extLst>
          </p:cNvPr>
          <p:cNvSpPr txBox="1"/>
          <p:nvPr/>
        </p:nvSpPr>
        <p:spPr>
          <a:xfrm>
            <a:off x="4628210" y="407846"/>
            <a:ext cx="2756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7661814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6304</TotalTime>
  <Words>246</Words>
  <Application>Microsoft Macintosh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Surya Chandra Raju Kurapati</dc:creator>
  <cp:lastModifiedBy>Surya Chandra Raju Kurapati</cp:lastModifiedBy>
  <cp:revision>8</cp:revision>
  <dcterms:created xsi:type="dcterms:W3CDTF">2025-10-16T07:44:16Z</dcterms:created>
  <dcterms:modified xsi:type="dcterms:W3CDTF">2025-10-20T16:49:13Z</dcterms:modified>
</cp:coreProperties>
</file>