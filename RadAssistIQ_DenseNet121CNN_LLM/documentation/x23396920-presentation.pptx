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9" r:id="rId3"/>
    <p:sldId id="262" r:id="rId4"/>
    <p:sldId id="258" r:id="rId5"/>
    <p:sldId id="260" r:id="rId6"/>
    <p:sldId id="261" r:id="rId7"/>
    <p:sldId id="264" r:id="rId8"/>
    <p:sldId id="263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E6E6E"/>
    <a:srgbClr val="75757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545"/>
    <p:restoredTop sz="94602"/>
  </p:normalViewPr>
  <p:slideViewPr>
    <p:cSldViewPr snapToGrid="0">
      <p:cViewPr varScale="1">
        <p:scale>
          <a:sx n="115" d="100"/>
          <a:sy n="115" d="100"/>
        </p:scale>
        <p:origin x="400" y="2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02BB395-9A04-204C-BC3F-19B4F27FBD68}" type="datetimeFigureOut">
              <a:rPr lang="en-US" smtClean="0"/>
              <a:t>11/17/25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99BF244-69D7-024A-B6A5-545898448B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18653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342900" indent="-342900">
              <a:buAutoNum type="arabicPeriod"/>
            </a:pPr>
            <a:r>
              <a:rPr lang="en-US" dirty="0"/>
              <a:t>Frequently performed imaging procedure globally for diagnosing various thoracic conditions like pneumonia, pneumothorax</a:t>
            </a:r>
          </a:p>
          <a:p>
            <a:pPr marL="342900" indent="-342900">
              <a:buAutoNum type="arabicPeriod"/>
            </a:pPr>
            <a:r>
              <a:rPr lang="en-US" dirty="0"/>
              <a:t>In US alone, 173% increase in chest imaging utilization per 1000 ED visits between 1994 to 2015</a:t>
            </a:r>
          </a:p>
          <a:p>
            <a:pPr marL="342900" indent="-342900">
              <a:buAutoNum type="arabicPeriod"/>
            </a:pPr>
            <a:r>
              <a:rPr lang="en-US" dirty="0"/>
              <a:t>42% - underreading, 22% satisfaction-of-search, 9% faculty reasoning errors</a:t>
            </a:r>
          </a:p>
          <a:p>
            <a:pPr marL="342900" indent="-342900">
              <a:buAutoNum type="arabicPeriod"/>
            </a:pPr>
            <a:r>
              <a:rPr lang="en-US" dirty="0"/>
              <a:t>Recent study in 2023 says, radiologists who made diagnostic errors had an avg. of 121% daily workload</a:t>
            </a:r>
          </a:p>
          <a:p>
            <a:pPr marL="342900" indent="-342900">
              <a:buAutoNum type="arabicPeriod"/>
            </a:pPr>
            <a:r>
              <a:rPr lang="en-US" dirty="0"/>
              <a:t>Hence, call for radiology assistant</a:t>
            </a:r>
          </a:p>
          <a:p>
            <a:pPr marL="342900" indent="-342900">
              <a:buAutoNum type="arabicPeriod"/>
            </a:pPr>
            <a:r>
              <a:rPr lang="en-US" dirty="0"/>
              <a:t>Deep Learning based approaches such as DenseNet121 CNN showcased reliability of 97.3% in pneumonia detection</a:t>
            </a:r>
          </a:p>
          <a:p>
            <a:pPr marL="342900" indent="-342900">
              <a:buAutoNum type="arabicPeriod"/>
            </a:pPr>
            <a:r>
              <a:rPr lang="en-US" dirty="0"/>
              <a:t>Furthermore, an LLM attached to above diagnosis results to generate clinical reasoning serve quick and better patient care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99BF244-69D7-024A-B6A5-545898448B30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040413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CDDD9A-603C-956C-8308-B2244BE305B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14A53AA-BDA9-09E0-ACF4-C290FC5BE84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DAA977-10C5-2959-0A2C-FE30D426E7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ADF483-D3D6-8A4A-BB74-78EECF92337A}" type="datetimeFigureOut">
              <a:rPr lang="en-US" smtClean="0"/>
              <a:t>11/16/25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4A772E-40BD-F6AE-8147-1232BAC4EB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3E220A-F202-EFC9-1630-998DF76617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B0753E-8587-A14A-8815-4787CDF217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08182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6641EF-C2D2-4C46-B32F-021787443C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79B1F6-4D40-4125-B4D3-346D5B68CE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AD13AA-C90F-A072-DBF1-7AD63128DF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ADF483-D3D6-8A4A-BB74-78EECF92337A}" type="datetimeFigureOut">
              <a:rPr lang="en-US" smtClean="0"/>
              <a:t>11/16/25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FAD5CE-DA9E-9033-CE41-C14104E964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34BB2F-E400-1C84-38B4-B0D0FE024A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B0753E-8587-A14A-8815-4787CDF217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59122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DB1167-59BB-F0F2-1A6D-9C1373E04F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B4906D-25CE-3BBF-14B3-55F539785D7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13D499-DB67-9EF3-7649-BC55809112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ADF483-D3D6-8A4A-BB74-78EECF92337A}" type="datetimeFigureOut">
              <a:rPr lang="en-US" smtClean="0"/>
              <a:t>11/16/25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3FCC94-B088-9B1E-2BDE-C8D45612F7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0F97B6-B647-3613-9FC1-648C3944C3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B0753E-8587-A14A-8815-4787CDF217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03135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C252C0-3424-116E-5D5E-9668568177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0CEC9A-7BEB-DFF7-77EC-3891B759713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7DEE31D-31F9-F00D-DEED-56337153180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7B7848F-C29B-E234-73C3-D98D034D31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ADF483-D3D6-8A4A-BB74-78EECF92337A}" type="datetimeFigureOut">
              <a:rPr lang="en-US" smtClean="0"/>
              <a:t>11/16/25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DCE7952-39CB-11DF-0554-931C00ED9A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5569822-10D1-7F8E-8C93-07452D11F8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B0753E-8587-A14A-8815-4787CDF217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05509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F75755-3108-2B5E-D88F-D5AD31072C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7909056-806D-72CC-FEFF-7514050C56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AAE8634-6284-669C-C19F-3CE34E90C8E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24178AB-B19E-23C2-33E3-6E517FC6E29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324EE55-C6CB-5558-A8C1-9F6EC47F469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E625B9E-1EC0-D1AD-50B7-383A7069ED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ADF483-D3D6-8A4A-BB74-78EECF92337A}" type="datetimeFigureOut">
              <a:rPr lang="en-US" smtClean="0"/>
              <a:t>11/16/25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6096D7D-3DB1-0F09-8DC0-68667A46A5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3B53094-A3F9-B8BC-610A-0E0550C06F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B0753E-8587-A14A-8815-4787CDF217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7276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279175-A509-C951-35C4-26525F93FB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3F878F4-A1F0-891C-6C7E-7FFD2D29F9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ADF483-D3D6-8A4A-BB74-78EECF92337A}" type="datetimeFigureOut">
              <a:rPr lang="en-US" smtClean="0"/>
              <a:t>11/16/25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EF3FC1A-0C7B-D2B2-8EEF-10D93628E0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9919B2D-FE18-6754-E893-CE2C4D5908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B0753E-8587-A14A-8815-4787CDF217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11494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9B81AEF-319A-5FF9-148A-AEB38C99FF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ADF483-D3D6-8A4A-BB74-78EECF92337A}" type="datetimeFigureOut">
              <a:rPr lang="en-US" smtClean="0"/>
              <a:t>11/16/25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CE625AF-B74B-B86D-8A3B-A3DBE10A39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B676858-B461-40FA-BB91-F271E305F1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B0753E-8587-A14A-8815-4787CDF217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32000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A41692-DB5F-2F75-FA64-299276204E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151581-7376-9436-337D-D4CB0B8E05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CB79E1F-002E-151F-D488-DDDC98A5527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ECD8595-83E5-8015-5384-3D373E6966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ADF483-D3D6-8A4A-BB74-78EECF92337A}" type="datetimeFigureOut">
              <a:rPr lang="en-US" smtClean="0"/>
              <a:t>11/16/25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051D3C6-59CB-FD0B-AC5A-8128D5091F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EC581BB-0480-CC21-0094-FB3286A68E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B0753E-8587-A14A-8815-4787CDF217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87763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B7EB4A-F381-66FC-6113-8CC4F2A06C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9491CE5-2EE5-AD51-293C-8E755B64D8F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5C76A40-D442-6019-990F-D40E8834758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76E42A6-8424-5450-94D2-28F0A0D714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ADF483-D3D6-8A4A-BB74-78EECF92337A}" type="datetimeFigureOut">
              <a:rPr lang="en-US" smtClean="0"/>
              <a:t>11/16/25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D142A8-D390-7380-451F-4457C59C4F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F7EAE51-CD0E-62D3-AEF4-ED3F29178E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B0753E-8587-A14A-8815-4787CDF217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98590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3856F2-FAF7-7789-CFD0-FF7DCA444A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FD8B976-AC77-C915-9E15-4DF8C0BB307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61A934-9FF1-EDB4-1F63-6802C7D59D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ADF483-D3D6-8A4A-BB74-78EECF92337A}" type="datetimeFigureOut">
              <a:rPr lang="en-US" smtClean="0"/>
              <a:t>11/16/25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7B2EAE-6D1D-A8C9-6589-E1168AEA30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EF2402-C846-62C6-663B-B442369243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B0753E-8587-A14A-8815-4787CDF217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85867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270BB6B-1D84-DFD0-853B-EDAA4063AA5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698AA08-3A50-CF64-A7C7-CDC197A35F2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34433A-91C6-AF71-B079-C690D484F7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ADF483-D3D6-8A4A-BB74-78EECF92337A}" type="datetimeFigureOut">
              <a:rPr lang="en-US" smtClean="0"/>
              <a:t>11/16/25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6846EC-020E-160D-62FF-1A8F3867CB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86A4FF-E150-113C-8FCA-1A59D177F8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B0753E-8587-A14A-8815-4787CDF217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27159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D695EF9-8E6E-C07B-BC80-7149D40B9D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85E5815-627E-38D0-CF35-48671A92F3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34EDC30-69E7-74E4-15B8-0B3FCF2E080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0ADF483-D3D6-8A4A-BB74-78EECF92337A}" type="datetimeFigureOut">
              <a:rPr lang="en-US" smtClean="0"/>
              <a:t>11/16/25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D10F78-594C-8C77-F128-795901A6716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50EDB7-306F-C89A-BB77-824A0D271FC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EB0753E-8587-A14A-8815-4787CDF217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11232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doi.org/10.1016/j.jacr.2018.11.011" TargetMode="External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hyperlink" Target="https://doi.org/10.1109/ACCESS.2024.3371151" TargetMode="External"/><Relationship Id="rId5" Type="http://schemas.openxmlformats.org/officeDocument/2006/relationships/hyperlink" Target="https://doi.org/10.1016/j.ejrad.2023.111032" TargetMode="External"/><Relationship Id="rId4" Type="http://schemas.openxmlformats.org/officeDocument/2006/relationships/hyperlink" Target="https://doi.org/10.3390/jcm13154306" TargetMode="Externa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.png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kaggle.com/datasets/ghost5612/chest-x-ray-images-normal-and-pneumonia/data?select=chest_xray" TargetMode="Externa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3BAF1CE-EF0B-8829-61F5-A22D7957D5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27350" y="2082800"/>
            <a:ext cx="6337300" cy="2692400"/>
          </a:xfrm>
          <a:prstGeom prst="rect">
            <a:avLst/>
          </a:prstGeom>
          <a:solidFill>
            <a:schemeClr val="bg1"/>
          </a:solidFill>
          <a:ln>
            <a:solidFill>
              <a:schemeClr val="dk1"/>
            </a:solidFill>
          </a:ln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C965A77-FB2E-2D62-F3B4-3F76B558781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10497"/>
          <a:stretch>
            <a:fillRect/>
          </a:stretch>
        </p:blipFill>
        <p:spPr>
          <a:xfrm>
            <a:off x="3168454" y="2321951"/>
            <a:ext cx="1409700" cy="77294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481812DD-AECD-656A-1A3A-7EA49642A67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54857" y="4164034"/>
            <a:ext cx="515071" cy="540825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6018368F-53F0-503C-05A1-2D82F8EE15F4}"/>
              </a:ext>
            </a:extLst>
          </p:cNvPr>
          <p:cNvSpPr txBox="1"/>
          <p:nvPr/>
        </p:nvSpPr>
        <p:spPr>
          <a:xfrm>
            <a:off x="7752441" y="5508702"/>
            <a:ext cx="317189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Surya Chandra Raju Kurapati</a:t>
            </a:r>
          </a:p>
          <a:p>
            <a:r>
              <a:rPr lang="en-US" b="1" dirty="0"/>
              <a:t>x23396920</a:t>
            </a:r>
          </a:p>
        </p:txBody>
      </p:sp>
    </p:spTree>
    <p:extLst>
      <p:ext uri="{BB962C8B-B14F-4D97-AF65-F5344CB8AC3E}">
        <p14:creationId xmlns:p14="http://schemas.microsoft.com/office/powerpoint/2010/main" val="2797678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699585F-251F-EDD7-5D16-2D476BAC7A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8126" y="3687803"/>
            <a:ext cx="850705" cy="1042462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3C602E6E-80E3-6EB6-6695-959BE3E7CE1A}"/>
              </a:ext>
            </a:extLst>
          </p:cNvPr>
          <p:cNvSpPr txBox="1"/>
          <p:nvPr/>
        </p:nvSpPr>
        <p:spPr>
          <a:xfrm>
            <a:off x="694701" y="4707115"/>
            <a:ext cx="123257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User: </a:t>
            </a:r>
            <a:r>
              <a:rPr lang="en-US" sz="1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Radiologist</a:t>
            </a:r>
          </a:p>
        </p:txBody>
      </p:sp>
      <p:cxnSp>
        <p:nvCxnSpPr>
          <p:cNvPr id="12" name="Elbow Connector 11">
            <a:extLst>
              <a:ext uri="{FF2B5EF4-FFF2-40B4-BE49-F238E27FC236}">
                <a16:creationId xmlns:a16="http://schemas.microsoft.com/office/drawing/2014/main" id="{128F1D74-004D-96F7-8BA7-7A1FAEBE4193}"/>
              </a:ext>
            </a:extLst>
          </p:cNvPr>
          <p:cNvCxnSpPr/>
          <p:nvPr/>
        </p:nvCxnSpPr>
        <p:spPr>
          <a:xfrm flipV="1">
            <a:off x="1294228" y="2419643"/>
            <a:ext cx="1026941" cy="844062"/>
          </a:xfrm>
          <a:prstGeom prst="bentConnector3">
            <a:avLst>
              <a:gd name="adj1" fmla="val -685"/>
            </a:avLst>
          </a:prstGeom>
          <a:ln>
            <a:solidFill>
              <a:srgbClr val="75757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Elbow Connector 14">
            <a:extLst>
              <a:ext uri="{FF2B5EF4-FFF2-40B4-BE49-F238E27FC236}">
                <a16:creationId xmlns:a16="http://schemas.microsoft.com/office/drawing/2014/main" id="{810A133B-F7FD-F003-1182-9318191E657E}"/>
              </a:ext>
            </a:extLst>
          </p:cNvPr>
          <p:cNvCxnSpPr/>
          <p:nvPr/>
        </p:nvCxnSpPr>
        <p:spPr>
          <a:xfrm rot="16200000" flipH="1">
            <a:off x="9263573" y="2736166"/>
            <a:ext cx="1547446" cy="914400"/>
          </a:xfrm>
          <a:prstGeom prst="bentConnector3">
            <a:avLst>
              <a:gd name="adj1" fmla="val 0"/>
            </a:avLst>
          </a:prstGeom>
          <a:ln>
            <a:solidFill>
              <a:srgbClr val="75757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D22739F9-D39D-FA0A-2EDE-1D83AD563B6A}"/>
              </a:ext>
            </a:extLst>
          </p:cNvPr>
          <p:cNvSpPr txBox="1"/>
          <p:nvPr/>
        </p:nvSpPr>
        <p:spPr>
          <a:xfrm>
            <a:off x="1261751" y="2076789"/>
            <a:ext cx="120009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dirty="0">
                <a:solidFill>
                  <a:srgbClr val="6E6E6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Input Request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F25F06D-ED35-FCE4-9259-3D3B53C2E71C}"/>
              </a:ext>
            </a:extLst>
          </p:cNvPr>
          <p:cNvSpPr txBox="1"/>
          <p:nvPr/>
        </p:nvSpPr>
        <p:spPr>
          <a:xfrm>
            <a:off x="10530073" y="3034425"/>
            <a:ext cx="76628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dirty="0">
                <a:solidFill>
                  <a:srgbClr val="6E6E6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Response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B76557E-C6E8-5357-CD1C-776605FCA4E0}"/>
              </a:ext>
            </a:extLst>
          </p:cNvPr>
          <p:cNvSpPr txBox="1"/>
          <p:nvPr/>
        </p:nvSpPr>
        <p:spPr>
          <a:xfrm>
            <a:off x="4143738" y="407846"/>
            <a:ext cx="3240910" cy="6617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is the product?</a:t>
            </a:r>
          </a:p>
          <a:p>
            <a:pPr algn="ctr"/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Product Overview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62FCD204-BAB0-F2CB-EC1C-6AF66313CF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56746" y="1659822"/>
            <a:ext cx="7099267" cy="2027981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1B09A284-3EFE-E968-4348-15401C58289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43738" y="4092335"/>
            <a:ext cx="7772400" cy="24635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18720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B819549-A688-AF8D-0903-9A199920F706}"/>
              </a:ext>
            </a:extLst>
          </p:cNvPr>
          <p:cNvSpPr txBox="1"/>
          <p:nvPr/>
        </p:nvSpPr>
        <p:spPr>
          <a:xfrm>
            <a:off x="4286731" y="470245"/>
            <a:ext cx="4791908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Motivation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3BF581C-B7F0-1C87-66E8-37947C30326C}"/>
              </a:ext>
            </a:extLst>
          </p:cNvPr>
          <p:cNvSpPr txBox="1"/>
          <p:nvPr/>
        </p:nvSpPr>
        <p:spPr>
          <a:xfrm>
            <a:off x="2788621" y="1508565"/>
            <a:ext cx="476925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000" dirty="0">
                <a:latin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Increasing utilization of chest imaging in US emergency departments from 1994 to 2015 </a:t>
            </a:r>
            <a:endParaRPr lang="en-IN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9D0E622-C4C6-1061-E29C-416ECE4A0ACE}"/>
              </a:ext>
            </a:extLst>
          </p:cNvPr>
          <p:cNvSpPr txBox="1"/>
          <p:nvPr/>
        </p:nvSpPr>
        <p:spPr>
          <a:xfrm>
            <a:off x="2925597" y="1785825"/>
            <a:ext cx="244971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(173% of chest imaging per 1000 ED visits)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ADDA080A-43CB-689A-5B20-E22924085E11}"/>
              </a:ext>
            </a:extLst>
          </p:cNvPr>
          <p:cNvCxnSpPr>
            <a:cxnSpLocks/>
          </p:cNvCxnSpPr>
          <p:nvPr/>
        </p:nvCxnSpPr>
        <p:spPr>
          <a:xfrm flipV="1">
            <a:off x="2925597" y="1785824"/>
            <a:ext cx="0" cy="24622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BDA68628-9317-0E26-3E35-991C6CA72217}"/>
              </a:ext>
            </a:extLst>
          </p:cNvPr>
          <p:cNvSpPr txBox="1"/>
          <p:nvPr/>
        </p:nvSpPr>
        <p:spPr>
          <a:xfrm>
            <a:off x="3912569" y="2502924"/>
            <a:ext cx="231024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000" dirty="0">
                <a:latin typeface="Times New Roman" panose="02020603050405020304" pitchFamily="18" charset="0"/>
                <a:cs typeface="Times New Roman" panose="02020603050405020304" pitchFamily="18" charset="0"/>
                <a:hlinkClick r:id="rId4"/>
              </a:rPr>
              <a:t>Errors in Radiology: A Standard Review </a:t>
            </a:r>
            <a:endParaRPr lang="en-IN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FED45EE-6F7E-2F3F-0C84-FF7F69C27DF1}"/>
              </a:ext>
            </a:extLst>
          </p:cNvPr>
          <p:cNvSpPr txBox="1"/>
          <p:nvPr/>
        </p:nvSpPr>
        <p:spPr>
          <a:xfrm>
            <a:off x="3912569" y="2769679"/>
            <a:ext cx="422583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(42% - underreading, 22% satisfaction-of-search, 9% faculty reasoning errors)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3E98F2E-ACAF-9E37-12EB-06AB8F718162}"/>
              </a:ext>
            </a:extLst>
          </p:cNvPr>
          <p:cNvSpPr txBox="1"/>
          <p:nvPr/>
        </p:nvSpPr>
        <p:spPr>
          <a:xfrm>
            <a:off x="5053827" y="3557905"/>
            <a:ext cx="275908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000" dirty="0">
                <a:latin typeface="Times New Roman" panose="02020603050405020304" pitchFamily="18" charset="0"/>
                <a:cs typeface="Times New Roman" panose="02020603050405020304" pitchFamily="18" charset="0"/>
                <a:hlinkClick r:id="rId5"/>
              </a:rPr>
              <a:t>Work overload and diagnostic errors in radiology </a:t>
            </a:r>
            <a:endParaRPr lang="en-IN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386BC7E-F179-9243-0D12-F6D044E0643A}"/>
              </a:ext>
            </a:extLst>
          </p:cNvPr>
          <p:cNvSpPr txBox="1"/>
          <p:nvPr/>
        </p:nvSpPr>
        <p:spPr>
          <a:xfrm>
            <a:off x="5053827" y="3815693"/>
            <a:ext cx="563006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(Recent study in 2023 says, radiologists who made diagnostic errors had an avg. of 121% daily workload)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4B4B2BD-2C5E-2407-0FF6-C52EB6C9F83A}"/>
              </a:ext>
            </a:extLst>
          </p:cNvPr>
          <p:cNvSpPr txBox="1"/>
          <p:nvPr/>
        </p:nvSpPr>
        <p:spPr>
          <a:xfrm>
            <a:off x="6156913" y="4634528"/>
            <a:ext cx="502092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000" dirty="0">
                <a:latin typeface="Times New Roman" panose="02020603050405020304" pitchFamily="18" charset="0"/>
                <a:cs typeface="Times New Roman" panose="02020603050405020304" pitchFamily="18" charset="0"/>
                <a:hlinkClick r:id="rId6"/>
              </a:rPr>
              <a:t>Classification of Paediatric Pneumonia Using Modified DenseNet-121 Deep-Learning Model </a:t>
            </a:r>
            <a:endParaRPr lang="en-IN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6157C13-0851-C82B-60EA-F9B9751DBE1C}"/>
              </a:ext>
            </a:extLst>
          </p:cNvPr>
          <p:cNvSpPr txBox="1"/>
          <p:nvPr/>
        </p:nvSpPr>
        <p:spPr>
          <a:xfrm>
            <a:off x="6156913" y="4880749"/>
            <a:ext cx="456289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(Deep Learning based approaches such as DenseNet121 CNN showcased reliability of 97.3% in pneumonia detection)</a:t>
            </a: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2B11B61F-C02B-310C-8DF8-6FFF41E4339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45746" y="2823948"/>
            <a:ext cx="1374289" cy="1210104"/>
          </a:xfrm>
          <a:prstGeom prst="rect">
            <a:avLst/>
          </a:prstGeom>
        </p:spPr>
      </p:pic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8A9D49C2-071B-5CF8-327B-0C0DCD44E599}"/>
              </a:ext>
            </a:extLst>
          </p:cNvPr>
          <p:cNvCxnSpPr/>
          <p:nvPr/>
        </p:nvCxnSpPr>
        <p:spPr>
          <a:xfrm>
            <a:off x="5173248" y="2032045"/>
            <a:ext cx="0" cy="33378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32C4FA03-A765-3796-DC6E-72AA5EA6FD85}"/>
              </a:ext>
            </a:extLst>
          </p:cNvPr>
          <p:cNvCxnSpPr/>
          <p:nvPr/>
        </p:nvCxnSpPr>
        <p:spPr>
          <a:xfrm>
            <a:off x="6096000" y="3124244"/>
            <a:ext cx="0" cy="33378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9408774D-A67B-BDAE-3F97-597D45B6DE89}"/>
              </a:ext>
            </a:extLst>
          </p:cNvPr>
          <p:cNvCxnSpPr/>
          <p:nvPr/>
        </p:nvCxnSpPr>
        <p:spPr>
          <a:xfrm>
            <a:off x="7235374" y="4228174"/>
            <a:ext cx="0" cy="33378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8850401A-A55E-C708-DFC8-FC7C069673E4}"/>
              </a:ext>
            </a:extLst>
          </p:cNvPr>
          <p:cNvSpPr txBox="1"/>
          <p:nvPr/>
        </p:nvSpPr>
        <p:spPr>
          <a:xfrm>
            <a:off x="344056" y="4150754"/>
            <a:ext cx="3189372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(Frequently used imaging procedure globally in diagnosing various thoracic conditions like pneumonia, infiltration, consolidation, hernia)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82DB16B6-CC20-4053-FEF9-3146E567EED1}"/>
              </a:ext>
            </a:extLst>
          </p:cNvPr>
          <p:cNvSpPr txBox="1"/>
          <p:nvPr/>
        </p:nvSpPr>
        <p:spPr>
          <a:xfrm>
            <a:off x="6156913" y="3177056"/>
            <a:ext cx="348364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Radiologist’s inefficiencies leading to X-ray reading errors ?</a:t>
            </a:r>
          </a:p>
          <a:p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4EEB2BDA-1000-00FD-2687-F31178B60B57}"/>
              </a:ext>
            </a:extLst>
          </p:cNvPr>
          <p:cNvSpPr txBox="1"/>
          <p:nvPr/>
        </p:nvSpPr>
        <p:spPr>
          <a:xfrm>
            <a:off x="7315201" y="4271955"/>
            <a:ext cx="128112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Accuracy at speed ?</a:t>
            </a:r>
          </a:p>
        </p:txBody>
      </p: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6AA3AE22-79BA-1081-0FF7-9E6B29BCCC5F}"/>
              </a:ext>
            </a:extLst>
          </p:cNvPr>
          <p:cNvCxnSpPr/>
          <p:nvPr/>
        </p:nvCxnSpPr>
        <p:spPr>
          <a:xfrm>
            <a:off x="8056847" y="5439940"/>
            <a:ext cx="0" cy="33378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8" name="TextBox 37">
            <a:extLst>
              <a:ext uri="{FF2B5EF4-FFF2-40B4-BE49-F238E27FC236}">
                <a16:creationId xmlns:a16="http://schemas.microsoft.com/office/drawing/2014/main" id="{47E46E34-1561-F2DB-B1C1-B1B1E2F515BD}"/>
              </a:ext>
            </a:extLst>
          </p:cNvPr>
          <p:cNvSpPr txBox="1"/>
          <p:nvPr/>
        </p:nvSpPr>
        <p:spPr>
          <a:xfrm>
            <a:off x="6025487" y="5956441"/>
            <a:ext cx="476124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Call for an reliable, interpretable, rapid, and accurate thoracic-condition detector ?</a:t>
            </a:r>
            <a:endParaRPr lang="en-US" sz="1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A42892D2-DC68-3D5F-9965-F61CF90D1B24}"/>
              </a:ext>
            </a:extLst>
          </p:cNvPr>
          <p:cNvSpPr txBox="1"/>
          <p:nvPr/>
        </p:nvSpPr>
        <p:spPr>
          <a:xfrm>
            <a:off x="8121671" y="5463576"/>
            <a:ext cx="275748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Certainly reliable, how about interpretability ?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92E4599A-528A-581C-F318-55C3A1FF1BFC}"/>
              </a:ext>
            </a:extLst>
          </p:cNvPr>
          <p:cNvSpPr txBox="1"/>
          <p:nvPr/>
        </p:nvSpPr>
        <p:spPr>
          <a:xfrm>
            <a:off x="5297249" y="2064494"/>
            <a:ext cx="191911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Great, but what’s the concern ?</a:t>
            </a:r>
          </a:p>
          <a:p>
            <a:endParaRPr lang="en-US" sz="1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530595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4A06DD-C14A-82A2-E9D8-D5B12DB422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6FAAD847-93D5-ED47-A62B-E21C0BF199F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12023"/>
          <a:stretch>
            <a:fillRect/>
          </a:stretch>
        </p:blipFill>
        <p:spPr>
          <a:xfrm>
            <a:off x="524065" y="3106155"/>
            <a:ext cx="1188984" cy="1271976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9EDEB55D-28B2-9E2F-80E0-37E1E561FF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23923" y="1822188"/>
            <a:ext cx="1910397" cy="1682164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99592FB4-4CD9-67C1-DA46-5DEE0234188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23923" y="3850141"/>
            <a:ext cx="1910397" cy="168216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6C59935-A133-35E5-D1BB-73CC27EDA1C9}"/>
              </a:ext>
            </a:extLst>
          </p:cNvPr>
          <p:cNvSpPr txBox="1"/>
          <p:nvPr/>
        </p:nvSpPr>
        <p:spPr>
          <a:xfrm>
            <a:off x="523912" y="4285532"/>
            <a:ext cx="145535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Domain: </a:t>
            </a:r>
            <a:r>
              <a:rPr lang="en-US" sz="1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Healthcare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49287BE-FF4C-7B6F-7450-EFD9CD97FDA1}"/>
              </a:ext>
            </a:extLst>
          </p:cNvPr>
          <p:cNvSpPr txBox="1"/>
          <p:nvPr/>
        </p:nvSpPr>
        <p:spPr>
          <a:xfrm>
            <a:off x="2656406" y="3492777"/>
            <a:ext cx="204291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Department: </a:t>
            </a:r>
            <a:r>
              <a:rPr lang="en-US" sz="1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Radiology (X-Ray)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ADA7FFA-110C-CA2F-D93D-11E779F4C937}"/>
              </a:ext>
            </a:extLst>
          </p:cNvPr>
          <p:cNvSpPr txBox="1"/>
          <p:nvPr/>
        </p:nvSpPr>
        <p:spPr>
          <a:xfrm>
            <a:off x="2608173" y="5530017"/>
            <a:ext cx="216058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Technology: </a:t>
            </a:r>
            <a:r>
              <a:rPr lang="en-US" sz="1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rtificial </a:t>
            </a:r>
            <a:r>
              <a:rPr lang="en-US" sz="1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ntelligence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669EA88-993E-AE78-2C25-AD4CB6D059B0}"/>
              </a:ext>
            </a:extLst>
          </p:cNvPr>
          <p:cNvSpPr txBox="1"/>
          <p:nvPr/>
        </p:nvSpPr>
        <p:spPr>
          <a:xfrm>
            <a:off x="5705705" y="4324710"/>
            <a:ext cx="216058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Product: </a:t>
            </a:r>
            <a:r>
              <a:rPr lang="en-US" sz="1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Rad</a:t>
            </a: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iology </a:t>
            </a:r>
            <a:r>
              <a:rPr lang="en-US" sz="1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Assist</a:t>
            </a: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ant </a:t>
            </a:r>
            <a:r>
              <a:rPr lang="en-US" sz="1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IQ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7AC6F3EE-7429-8CD1-8886-D01A490A61F3}"/>
              </a:ext>
            </a:extLst>
          </p:cNvPr>
          <p:cNvSpPr/>
          <p:nvPr/>
        </p:nvSpPr>
        <p:spPr>
          <a:xfrm>
            <a:off x="9259750" y="2384398"/>
            <a:ext cx="2048719" cy="668547"/>
          </a:xfrm>
          <a:prstGeom prst="ellipse">
            <a:avLst/>
          </a:prstGeom>
          <a:solidFill>
            <a:srgbClr val="75757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CE01B447-F61A-25BE-38E3-1EF737668BDA}"/>
              </a:ext>
            </a:extLst>
          </p:cNvPr>
          <p:cNvSpPr/>
          <p:nvPr/>
        </p:nvSpPr>
        <p:spPr>
          <a:xfrm>
            <a:off x="9259750" y="3801711"/>
            <a:ext cx="2048719" cy="668547"/>
          </a:xfrm>
          <a:prstGeom prst="ellipse">
            <a:avLst/>
          </a:prstGeom>
          <a:solidFill>
            <a:srgbClr val="75757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378F6CF-3225-6AA5-C6BA-7A3D4F3174D5}"/>
              </a:ext>
            </a:extLst>
          </p:cNvPr>
          <p:cNvSpPr txBox="1"/>
          <p:nvPr/>
        </p:nvSpPr>
        <p:spPr>
          <a:xfrm>
            <a:off x="9259744" y="2581165"/>
            <a:ext cx="219919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Concept 1: Explainable AI (</a:t>
            </a:r>
            <a:r>
              <a:rPr lang="en-US" sz="11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XAI</a:t>
            </a:r>
            <a:r>
              <a:rPr lang="en-US" sz="11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26B6DA4-1B52-0018-EB8D-94E1B9FC2DE8}"/>
              </a:ext>
            </a:extLst>
          </p:cNvPr>
          <p:cNvSpPr txBox="1"/>
          <p:nvPr/>
        </p:nvSpPr>
        <p:spPr>
          <a:xfrm>
            <a:off x="9225019" y="4012355"/>
            <a:ext cx="219919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Concept 2: Generative AI (</a:t>
            </a:r>
            <a:r>
              <a:rPr lang="en-US" sz="11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GenAI</a:t>
            </a:r>
            <a:r>
              <a:rPr lang="en-US" sz="11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E697931-32B6-6997-9891-DECD73F17DA9}"/>
              </a:ext>
            </a:extLst>
          </p:cNvPr>
          <p:cNvSpPr txBox="1"/>
          <p:nvPr/>
        </p:nvSpPr>
        <p:spPr>
          <a:xfrm>
            <a:off x="10359340" y="5300201"/>
            <a:ext cx="1620455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arge </a:t>
            </a:r>
            <a:r>
              <a:rPr lang="en-US" sz="1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anguage </a:t>
            </a:r>
            <a:r>
              <a:rPr lang="en-US" sz="1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odel</a:t>
            </a:r>
          </a:p>
          <a:p>
            <a:pPr algn="ctr"/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(gemini-2.5-pro)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124CB56-246D-2208-AFAC-A8BA44261DD9}"/>
              </a:ext>
            </a:extLst>
          </p:cNvPr>
          <p:cNvSpPr txBox="1"/>
          <p:nvPr/>
        </p:nvSpPr>
        <p:spPr>
          <a:xfrm>
            <a:off x="8599987" y="4928794"/>
            <a:ext cx="204871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onvolutional </a:t>
            </a:r>
            <a:r>
              <a:rPr lang="en-US" sz="1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eural </a:t>
            </a:r>
            <a:r>
              <a:rPr lang="en-US" sz="1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etwork</a:t>
            </a:r>
          </a:p>
          <a:p>
            <a:pPr algn="ctr"/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(DenseNet121)</a:t>
            </a: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7DB93178-2C09-4595-42CB-0845D751F285}"/>
              </a:ext>
            </a:extLst>
          </p:cNvPr>
          <p:cNvCxnSpPr>
            <a:cxnSpLocks/>
            <a:stCxn id="12" idx="4"/>
            <a:endCxn id="16" idx="0"/>
          </p:cNvCxnSpPr>
          <p:nvPr/>
        </p:nvCxnSpPr>
        <p:spPr>
          <a:xfrm flipH="1">
            <a:off x="9624347" y="4470258"/>
            <a:ext cx="659763" cy="458536"/>
          </a:xfrm>
          <a:prstGeom prst="straightConnector1">
            <a:avLst/>
          </a:prstGeom>
          <a:ln>
            <a:solidFill>
              <a:srgbClr val="75757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0E2124EA-18D9-3244-A0FB-ECA3D75E4FD3}"/>
              </a:ext>
            </a:extLst>
          </p:cNvPr>
          <p:cNvCxnSpPr>
            <a:stCxn id="12" idx="4"/>
            <a:endCxn id="15" idx="0"/>
          </p:cNvCxnSpPr>
          <p:nvPr/>
        </p:nvCxnSpPr>
        <p:spPr>
          <a:xfrm>
            <a:off x="10284110" y="4470258"/>
            <a:ext cx="885458" cy="829943"/>
          </a:xfrm>
          <a:prstGeom prst="straightConnector1">
            <a:avLst/>
          </a:prstGeom>
          <a:ln>
            <a:solidFill>
              <a:srgbClr val="75757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5993FBC0-96E2-3CDE-8044-D05256C01469}"/>
              </a:ext>
            </a:extLst>
          </p:cNvPr>
          <p:cNvCxnSpPr>
            <a:cxnSpLocks/>
            <a:stCxn id="2" idx="3"/>
            <a:endCxn id="3" idx="1"/>
          </p:cNvCxnSpPr>
          <p:nvPr/>
        </p:nvCxnSpPr>
        <p:spPr>
          <a:xfrm flipV="1">
            <a:off x="1713049" y="2663270"/>
            <a:ext cx="1010874" cy="1078873"/>
          </a:xfrm>
          <a:prstGeom prst="straightConnector1">
            <a:avLst/>
          </a:prstGeom>
          <a:ln>
            <a:solidFill>
              <a:srgbClr val="75757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B10018A6-7D38-F1F2-5AB2-6D03D77EFFBA}"/>
              </a:ext>
            </a:extLst>
          </p:cNvPr>
          <p:cNvCxnSpPr>
            <a:cxnSpLocks/>
            <a:stCxn id="2" idx="3"/>
            <a:endCxn id="4" idx="1"/>
          </p:cNvCxnSpPr>
          <p:nvPr/>
        </p:nvCxnSpPr>
        <p:spPr>
          <a:xfrm>
            <a:off x="1713049" y="3742143"/>
            <a:ext cx="1010874" cy="949080"/>
          </a:xfrm>
          <a:prstGeom prst="straightConnector1">
            <a:avLst/>
          </a:prstGeom>
          <a:ln>
            <a:solidFill>
              <a:srgbClr val="75757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5" name="Picture 34">
            <a:extLst>
              <a:ext uri="{FF2B5EF4-FFF2-40B4-BE49-F238E27FC236}">
                <a16:creationId xmlns:a16="http://schemas.microsoft.com/office/drawing/2014/main" id="{D3D1A9A7-37A2-0851-FD21-035E2ADB21F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97080" y="3202706"/>
            <a:ext cx="2330948" cy="1134009"/>
          </a:xfrm>
          <a:prstGeom prst="rect">
            <a:avLst/>
          </a:prstGeom>
        </p:spPr>
      </p:pic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A483101-29BD-8E55-CAE2-FD3F5D2AB3F9}"/>
              </a:ext>
            </a:extLst>
          </p:cNvPr>
          <p:cNvCxnSpPr/>
          <p:nvPr/>
        </p:nvCxnSpPr>
        <p:spPr>
          <a:xfrm>
            <a:off x="5116007" y="1215342"/>
            <a:ext cx="0" cy="5092861"/>
          </a:xfrm>
          <a:prstGeom prst="line">
            <a:avLst/>
          </a:prstGeom>
          <a:ln>
            <a:solidFill>
              <a:srgbClr val="7575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05E8E1D6-CC92-6774-378B-FC33676D26CD}"/>
              </a:ext>
            </a:extLst>
          </p:cNvPr>
          <p:cNvCxnSpPr/>
          <p:nvPr/>
        </p:nvCxnSpPr>
        <p:spPr>
          <a:xfrm>
            <a:off x="8370422" y="1221473"/>
            <a:ext cx="0" cy="5092861"/>
          </a:xfrm>
          <a:prstGeom prst="line">
            <a:avLst/>
          </a:prstGeom>
          <a:ln>
            <a:solidFill>
              <a:srgbClr val="7575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792DF4A2-2466-735B-3260-DF4733E10028}"/>
              </a:ext>
            </a:extLst>
          </p:cNvPr>
          <p:cNvSpPr txBox="1"/>
          <p:nvPr/>
        </p:nvSpPr>
        <p:spPr>
          <a:xfrm>
            <a:off x="1520167" y="1076574"/>
            <a:ext cx="24075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6E6E6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Domain &amp; Technology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5E842A5-9880-DEDB-B6A1-C5D49D0CF13D}"/>
              </a:ext>
            </a:extLst>
          </p:cNvPr>
          <p:cNvSpPr txBox="1"/>
          <p:nvPr/>
        </p:nvSpPr>
        <p:spPr>
          <a:xfrm>
            <a:off x="6070918" y="1076574"/>
            <a:ext cx="10455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6E6E6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Product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598A33F-5B52-CE72-CFC1-CA69BDD6E659}"/>
              </a:ext>
            </a:extLst>
          </p:cNvPr>
          <p:cNvSpPr txBox="1"/>
          <p:nvPr/>
        </p:nvSpPr>
        <p:spPr>
          <a:xfrm>
            <a:off x="9355231" y="1076574"/>
            <a:ext cx="16841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6E6E6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Core Concepts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E32B08A6-B97E-B691-EF8C-8E96D24559D1}"/>
              </a:ext>
            </a:extLst>
          </p:cNvPr>
          <p:cNvSpPr txBox="1"/>
          <p:nvPr/>
        </p:nvSpPr>
        <p:spPr>
          <a:xfrm>
            <a:off x="3356403" y="189106"/>
            <a:ext cx="6016987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5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RadAssistIQ</a:t>
            </a:r>
            <a:r>
              <a:rPr lang="en-US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High Level Understanding</a:t>
            </a:r>
          </a:p>
        </p:txBody>
      </p:sp>
    </p:spTree>
    <p:extLst>
      <p:ext uri="{BB962C8B-B14F-4D97-AF65-F5344CB8AC3E}">
        <p14:creationId xmlns:p14="http://schemas.microsoft.com/office/powerpoint/2010/main" val="167430647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D05E8FB-C247-537D-46FA-326A4D0F8553}"/>
              </a:ext>
            </a:extLst>
          </p:cNvPr>
          <p:cNvSpPr txBox="1"/>
          <p:nvPr/>
        </p:nvSpPr>
        <p:spPr>
          <a:xfrm>
            <a:off x="119582" y="3497561"/>
            <a:ext cx="2451296" cy="7986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350"/>
              </a:lnSpc>
              <a:buNone/>
            </a:pPr>
            <a:r>
              <a:rPr lang="en-IN" sz="1100" b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</a:p>
          <a:p>
            <a:pPr>
              <a:lnSpc>
                <a:spcPts val="1350"/>
              </a:lnSpc>
              <a:buNone/>
            </a:pPr>
            <a:r>
              <a:rPr lang="en-I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IN" sz="1100" b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"</a:t>
            </a:r>
            <a:r>
              <a:rPr lang="en-IN" sz="1100" b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xray_id</a:t>
            </a:r>
            <a:r>
              <a:rPr lang="en-IN" sz="1100" b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": "person3_bacteria_10",</a:t>
            </a:r>
          </a:p>
          <a:p>
            <a:pPr>
              <a:lnSpc>
                <a:spcPts val="1350"/>
              </a:lnSpc>
              <a:buNone/>
            </a:pPr>
            <a:r>
              <a:rPr lang="en-I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IN" sz="1100" b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"query": "Diagnose the Xray"</a:t>
            </a:r>
          </a:p>
          <a:p>
            <a:pPr>
              <a:lnSpc>
                <a:spcPts val="1350"/>
              </a:lnSpc>
              <a:buNone/>
            </a:pPr>
            <a:r>
              <a:rPr lang="en-IN" sz="1100" b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C62D122-B792-ECCA-F35F-EC5F67788E32}"/>
              </a:ext>
            </a:extLst>
          </p:cNvPr>
          <p:cNvSpPr/>
          <p:nvPr/>
        </p:nvSpPr>
        <p:spPr>
          <a:xfrm>
            <a:off x="119582" y="3497561"/>
            <a:ext cx="2391518" cy="82465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E78C8BD-2020-4B76-41BD-37174FEC2BEA}"/>
              </a:ext>
            </a:extLst>
          </p:cNvPr>
          <p:cNvSpPr txBox="1"/>
          <p:nvPr/>
        </p:nvSpPr>
        <p:spPr>
          <a:xfrm>
            <a:off x="2613082" y="3738235"/>
            <a:ext cx="586155" cy="2600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350"/>
              </a:lnSpc>
              <a:buNone/>
            </a:pPr>
            <a:r>
              <a:rPr lang="en-I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POST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51B48CC-961F-39F7-EE5F-687F580F1772}"/>
              </a:ext>
            </a:extLst>
          </p:cNvPr>
          <p:cNvSpPr txBox="1"/>
          <p:nvPr/>
        </p:nvSpPr>
        <p:spPr>
          <a:xfrm>
            <a:off x="4681004" y="4020054"/>
            <a:ext cx="1375115" cy="4395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350"/>
              </a:lnSpc>
              <a:buNone/>
            </a:pPr>
            <a:r>
              <a:rPr lang="en-IN" sz="1100" b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Read X-Ray</a:t>
            </a:r>
          </a:p>
          <a:p>
            <a:pPr algn="ctr">
              <a:lnSpc>
                <a:spcPts val="1350"/>
              </a:lnSpc>
              <a:buNone/>
            </a:pPr>
            <a:r>
              <a:rPr lang="en-I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PIL (pillow) Library</a:t>
            </a:r>
            <a:endParaRPr lang="en-IN" sz="1100" b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86EE8EB-02B3-F42C-2BAF-71B6201B3FC8}"/>
              </a:ext>
            </a:extLst>
          </p:cNvPr>
          <p:cNvSpPr/>
          <p:nvPr/>
        </p:nvSpPr>
        <p:spPr>
          <a:xfrm>
            <a:off x="4748422" y="4007822"/>
            <a:ext cx="1307697" cy="49680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C1DA277-9E16-085F-2EBE-CE21D364AE93}"/>
              </a:ext>
            </a:extLst>
          </p:cNvPr>
          <p:cNvSpPr txBox="1"/>
          <p:nvPr/>
        </p:nvSpPr>
        <p:spPr>
          <a:xfrm>
            <a:off x="6437706" y="3151529"/>
            <a:ext cx="1375115" cy="4395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350"/>
              </a:lnSpc>
              <a:buNone/>
            </a:pPr>
            <a:r>
              <a:rPr lang="en-IN" sz="1100" b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Diagnose X-Ray</a:t>
            </a:r>
          </a:p>
          <a:p>
            <a:pPr algn="ctr">
              <a:lnSpc>
                <a:spcPts val="1350"/>
              </a:lnSpc>
              <a:buNone/>
            </a:pPr>
            <a:r>
              <a:rPr lang="en-I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CNN (DenseNet121)</a:t>
            </a:r>
            <a:endParaRPr lang="en-IN" sz="1100" b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F378B17-00EB-61D1-D426-9208A498EE8E}"/>
              </a:ext>
            </a:extLst>
          </p:cNvPr>
          <p:cNvSpPr/>
          <p:nvPr/>
        </p:nvSpPr>
        <p:spPr>
          <a:xfrm>
            <a:off x="6462481" y="3151529"/>
            <a:ext cx="1350340" cy="47264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37A9A95-52C7-0429-0EDA-59180342B7CB}"/>
              </a:ext>
            </a:extLst>
          </p:cNvPr>
          <p:cNvSpPr txBox="1"/>
          <p:nvPr/>
        </p:nvSpPr>
        <p:spPr>
          <a:xfrm>
            <a:off x="8951706" y="2363576"/>
            <a:ext cx="3010467" cy="2953053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lnSpc>
                <a:spcPts val="1350"/>
              </a:lnSpc>
              <a:buNone/>
            </a:pPr>
            <a:r>
              <a:rPr lang="en-IN" sz="1100" b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</a:p>
          <a:p>
            <a:pPr>
              <a:lnSpc>
                <a:spcPts val="1350"/>
              </a:lnSpc>
              <a:buNone/>
            </a:pPr>
            <a:r>
              <a:rPr lang="en-IN" sz="1100" b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"</a:t>
            </a:r>
            <a:r>
              <a:rPr lang="en-IN" sz="1100" b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xray_id</a:t>
            </a:r>
            <a:r>
              <a:rPr lang="en-IN" sz="1100" b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": "person3_bacteria_10",</a:t>
            </a:r>
          </a:p>
          <a:p>
            <a:pPr>
              <a:lnSpc>
                <a:spcPts val="1350"/>
              </a:lnSpc>
              <a:buNone/>
            </a:pPr>
            <a:r>
              <a:rPr lang="en-IN" sz="1100" b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"findings": {</a:t>
            </a:r>
          </a:p>
          <a:p>
            <a:pPr>
              <a:lnSpc>
                <a:spcPts val="1350"/>
              </a:lnSpc>
              <a:buNone/>
            </a:pPr>
            <a:r>
              <a:rPr lang="en-IN" sz="1100" b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      "Infiltration": 0.7697662711143494</a:t>
            </a:r>
          </a:p>
          <a:p>
            <a:pPr>
              <a:lnSpc>
                <a:spcPts val="1350"/>
              </a:lnSpc>
              <a:buNone/>
            </a:pPr>
            <a:r>
              <a:rPr lang="en-IN" sz="1100" b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 },</a:t>
            </a:r>
          </a:p>
          <a:p>
            <a:pPr>
              <a:lnSpc>
                <a:spcPts val="1350"/>
              </a:lnSpc>
            </a:pPr>
            <a:r>
              <a:rPr lang="en-I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"reasoning": "1. **Findings Summary** \</a:t>
            </a:r>
            <a:r>
              <a:rPr lang="en-IN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nThe</a:t>
            </a:r>
            <a:r>
              <a:rPr lang="en-I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X-ray shows a notable infiltration.\n\n2. \</a:t>
            </a:r>
            <a:r>
              <a:rPr lang="en-IN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nThe</a:t>
            </a:r>
            <a:r>
              <a:rPr lang="en-I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presence of infiltration on the X-ray often indicates an abnormal density in the lungs, which can be due to infection (such as pneumonia), fluid accumulation (like pulmonary </a:t>
            </a:r>
            <a:r>
              <a:rPr lang="en-IN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edema</a:t>
            </a:r>
            <a:r>
              <a:rPr lang="en-I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), interstitial inflammation (common in interstitial lung disease), or a mass (such as in lung neoplasm). Further clinical correlation and additional imaging may be required to reach a definitive diagnosis."</a:t>
            </a:r>
            <a:endParaRPr lang="en-IN" sz="1100" b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ts val="1350"/>
              </a:lnSpc>
              <a:buNone/>
            </a:pPr>
            <a:r>
              <a:rPr lang="en-IN" sz="1100" b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0B2F095-E501-1CC7-439B-26D5E09FD94F}"/>
              </a:ext>
            </a:extLst>
          </p:cNvPr>
          <p:cNvSpPr txBox="1"/>
          <p:nvPr/>
        </p:nvSpPr>
        <p:spPr>
          <a:xfrm>
            <a:off x="13589391" y="3868615"/>
            <a:ext cx="184731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309765B-FD22-5D98-21AA-FCA1A4DFC36C}"/>
              </a:ext>
            </a:extLst>
          </p:cNvPr>
          <p:cNvSpPr txBox="1"/>
          <p:nvPr/>
        </p:nvSpPr>
        <p:spPr>
          <a:xfrm>
            <a:off x="7027959" y="4076406"/>
            <a:ext cx="1543936" cy="4395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350"/>
              </a:lnSpc>
              <a:buNone/>
            </a:pPr>
            <a:r>
              <a:rPr lang="en-IN" sz="1100" b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Reasoning</a:t>
            </a:r>
          </a:p>
          <a:p>
            <a:pPr algn="ctr">
              <a:lnSpc>
                <a:spcPts val="1350"/>
              </a:lnSpc>
              <a:buNone/>
            </a:pPr>
            <a:r>
              <a:rPr lang="en-I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LLM (gemini-1.5-pro)</a:t>
            </a:r>
            <a:endParaRPr lang="en-IN" sz="1100" b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C9BFF127-002A-5B75-63B7-83C7AD723D70}"/>
              </a:ext>
            </a:extLst>
          </p:cNvPr>
          <p:cNvSpPr/>
          <p:nvPr/>
        </p:nvSpPr>
        <p:spPr>
          <a:xfrm>
            <a:off x="7097118" y="4076405"/>
            <a:ext cx="1412632" cy="47264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CDAFF3B-6140-8B2B-5F0A-1E443F733228}"/>
              </a:ext>
            </a:extLst>
          </p:cNvPr>
          <p:cNvSpPr txBox="1"/>
          <p:nvPr/>
        </p:nvSpPr>
        <p:spPr>
          <a:xfrm>
            <a:off x="772969" y="3165625"/>
            <a:ext cx="106171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Request Body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6596706E-5C8B-420E-AF60-4F3ADF0EB107}"/>
              </a:ext>
            </a:extLst>
          </p:cNvPr>
          <p:cNvSpPr/>
          <p:nvPr/>
        </p:nvSpPr>
        <p:spPr>
          <a:xfrm>
            <a:off x="3353983" y="3639760"/>
            <a:ext cx="1069725" cy="40011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GB" sz="20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Fast API</a:t>
            </a:r>
            <a:endParaRPr lang="en-GB" sz="20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63DC886-7932-F234-1124-DB8824551908}"/>
              </a:ext>
            </a:extLst>
          </p:cNvPr>
          <p:cNvSpPr txBox="1"/>
          <p:nvPr/>
        </p:nvSpPr>
        <p:spPr>
          <a:xfrm>
            <a:off x="3370958" y="3888494"/>
            <a:ext cx="977712" cy="2600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350"/>
              </a:lnSpc>
            </a:pPr>
            <a:r>
              <a:rPr lang="en-IN" sz="1100" b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IN" sz="1100" b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analyze-xray</a:t>
            </a:r>
            <a:endParaRPr lang="en-IN" sz="1100" b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Can 24">
            <a:extLst>
              <a:ext uri="{FF2B5EF4-FFF2-40B4-BE49-F238E27FC236}">
                <a16:creationId xmlns:a16="http://schemas.microsoft.com/office/drawing/2014/main" id="{D72BADC9-1DC9-7ADE-09ED-B21B10B6EF09}"/>
              </a:ext>
            </a:extLst>
          </p:cNvPr>
          <p:cNvSpPr/>
          <p:nvPr/>
        </p:nvSpPr>
        <p:spPr>
          <a:xfrm>
            <a:off x="4394808" y="2587804"/>
            <a:ext cx="977712" cy="915676"/>
          </a:xfrm>
          <a:prstGeom prst="can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7E485D77-7974-44E3-116D-BCB64B727E7B}"/>
              </a:ext>
            </a:extLst>
          </p:cNvPr>
          <p:cNvSpPr txBox="1"/>
          <p:nvPr/>
        </p:nvSpPr>
        <p:spPr>
          <a:xfrm>
            <a:off x="4379068" y="2973265"/>
            <a:ext cx="1018227" cy="3847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IN" sz="1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Local Storage</a:t>
            </a:r>
          </a:p>
          <a:p>
            <a:pPr algn="ctr"/>
            <a:endParaRPr lang="en-US" sz="1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5000+ X-Rays</a:t>
            </a:r>
            <a:endParaRPr lang="en-IN" sz="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7311C971-848B-C675-EDD0-40B4E8D7291A}"/>
              </a:ext>
            </a:extLst>
          </p:cNvPr>
          <p:cNvCxnSpPr>
            <a:cxnSpLocks/>
          </p:cNvCxnSpPr>
          <p:nvPr/>
        </p:nvCxnSpPr>
        <p:spPr>
          <a:xfrm>
            <a:off x="2629053" y="3983062"/>
            <a:ext cx="554212" cy="0"/>
          </a:xfrm>
          <a:prstGeom prst="straightConnector1">
            <a:avLst/>
          </a:prstGeom>
          <a:ln>
            <a:solidFill>
              <a:srgbClr val="75757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Elbow Connector 39">
            <a:extLst>
              <a:ext uri="{FF2B5EF4-FFF2-40B4-BE49-F238E27FC236}">
                <a16:creationId xmlns:a16="http://schemas.microsoft.com/office/drawing/2014/main" id="{2FB3F01F-16FF-D0DB-601A-B0F1112440AC}"/>
              </a:ext>
            </a:extLst>
          </p:cNvPr>
          <p:cNvCxnSpPr/>
          <p:nvPr/>
        </p:nvCxnSpPr>
        <p:spPr>
          <a:xfrm flipV="1">
            <a:off x="3868615" y="3151529"/>
            <a:ext cx="379828" cy="319990"/>
          </a:xfrm>
          <a:prstGeom prst="bentConnector3">
            <a:avLst>
              <a:gd name="adj1" fmla="val -1852"/>
            </a:avLst>
          </a:prstGeom>
          <a:ln>
            <a:solidFill>
              <a:srgbClr val="75757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Elbow Connector 43">
            <a:extLst>
              <a:ext uri="{FF2B5EF4-FFF2-40B4-BE49-F238E27FC236}">
                <a16:creationId xmlns:a16="http://schemas.microsoft.com/office/drawing/2014/main" id="{4AB9B0B1-53F3-A0DC-AA21-9E8D7E942187}"/>
              </a:ext>
            </a:extLst>
          </p:cNvPr>
          <p:cNvCxnSpPr/>
          <p:nvPr/>
        </p:nvCxnSpPr>
        <p:spPr>
          <a:xfrm rot="16200000" flipH="1">
            <a:off x="5286730" y="3435605"/>
            <a:ext cx="736965" cy="168812"/>
          </a:xfrm>
          <a:prstGeom prst="bentConnector3">
            <a:avLst>
              <a:gd name="adj1" fmla="val 2279"/>
            </a:avLst>
          </a:prstGeom>
          <a:ln>
            <a:solidFill>
              <a:srgbClr val="75757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Elbow Connector 58">
            <a:extLst>
              <a:ext uri="{FF2B5EF4-FFF2-40B4-BE49-F238E27FC236}">
                <a16:creationId xmlns:a16="http://schemas.microsoft.com/office/drawing/2014/main" id="{AF1B09BF-F85B-DBEB-B8A0-D322B21ED1A9}"/>
              </a:ext>
            </a:extLst>
          </p:cNvPr>
          <p:cNvCxnSpPr/>
          <p:nvPr/>
        </p:nvCxnSpPr>
        <p:spPr>
          <a:xfrm rot="16200000" flipH="1">
            <a:off x="7818925" y="3586456"/>
            <a:ext cx="554062" cy="239150"/>
          </a:xfrm>
          <a:prstGeom prst="bentConnector3">
            <a:avLst>
              <a:gd name="adj1" fmla="val 4298"/>
            </a:avLst>
          </a:prstGeom>
          <a:ln>
            <a:solidFill>
              <a:srgbClr val="75757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Straight Connector 61">
            <a:extLst>
              <a:ext uri="{FF2B5EF4-FFF2-40B4-BE49-F238E27FC236}">
                <a16:creationId xmlns:a16="http://schemas.microsoft.com/office/drawing/2014/main" id="{9A30E030-63AB-EB95-F821-EAC19C234302}"/>
              </a:ext>
            </a:extLst>
          </p:cNvPr>
          <p:cNvCxnSpPr/>
          <p:nvPr/>
        </p:nvCxnSpPr>
        <p:spPr>
          <a:xfrm>
            <a:off x="3317652" y="1857139"/>
            <a:ext cx="0" cy="3981157"/>
          </a:xfrm>
          <a:prstGeom prst="line">
            <a:avLst/>
          </a:prstGeom>
          <a:ln>
            <a:solidFill>
              <a:srgbClr val="7575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Straight Connector 62">
            <a:extLst>
              <a:ext uri="{FF2B5EF4-FFF2-40B4-BE49-F238E27FC236}">
                <a16:creationId xmlns:a16="http://schemas.microsoft.com/office/drawing/2014/main" id="{ADA76C5B-02EC-2FFC-BCC5-8C87E547347E}"/>
              </a:ext>
            </a:extLst>
          </p:cNvPr>
          <p:cNvCxnSpPr/>
          <p:nvPr/>
        </p:nvCxnSpPr>
        <p:spPr>
          <a:xfrm>
            <a:off x="6283591" y="1857139"/>
            <a:ext cx="0" cy="3981157"/>
          </a:xfrm>
          <a:prstGeom prst="line">
            <a:avLst/>
          </a:prstGeom>
          <a:ln>
            <a:solidFill>
              <a:srgbClr val="7575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Straight Connector 63">
            <a:extLst>
              <a:ext uri="{FF2B5EF4-FFF2-40B4-BE49-F238E27FC236}">
                <a16:creationId xmlns:a16="http://schemas.microsoft.com/office/drawing/2014/main" id="{BE95E55C-D0EF-6F60-435B-AA8903089134}"/>
              </a:ext>
            </a:extLst>
          </p:cNvPr>
          <p:cNvCxnSpPr/>
          <p:nvPr/>
        </p:nvCxnSpPr>
        <p:spPr>
          <a:xfrm>
            <a:off x="8700890" y="1857139"/>
            <a:ext cx="0" cy="3981157"/>
          </a:xfrm>
          <a:prstGeom prst="line">
            <a:avLst/>
          </a:prstGeom>
          <a:ln>
            <a:solidFill>
              <a:srgbClr val="7575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5" name="TextBox 64">
            <a:extLst>
              <a:ext uri="{FF2B5EF4-FFF2-40B4-BE49-F238E27FC236}">
                <a16:creationId xmlns:a16="http://schemas.microsoft.com/office/drawing/2014/main" id="{667547A8-615C-5092-FC8D-5D2B6F9CF7AA}"/>
              </a:ext>
            </a:extLst>
          </p:cNvPr>
          <p:cNvSpPr txBox="1"/>
          <p:nvPr/>
        </p:nvSpPr>
        <p:spPr>
          <a:xfrm>
            <a:off x="836277" y="1487807"/>
            <a:ext cx="14708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6E6E6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Input Layer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3674C414-B69F-B4F1-F585-B078335213E7}"/>
              </a:ext>
            </a:extLst>
          </p:cNvPr>
          <p:cNvSpPr txBox="1"/>
          <p:nvPr/>
        </p:nvSpPr>
        <p:spPr>
          <a:xfrm>
            <a:off x="4099982" y="1487807"/>
            <a:ext cx="14708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75757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API Layer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211EBCE4-88ED-A9FE-C243-9358FD20328B}"/>
              </a:ext>
            </a:extLst>
          </p:cNvPr>
          <p:cNvSpPr txBox="1"/>
          <p:nvPr/>
        </p:nvSpPr>
        <p:spPr>
          <a:xfrm>
            <a:off x="6979251" y="1487807"/>
            <a:ext cx="14708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6E6E6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AI Layer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6640EF99-B836-5C9E-1C29-D2ECCFF29C3C}"/>
              </a:ext>
            </a:extLst>
          </p:cNvPr>
          <p:cNvSpPr txBox="1"/>
          <p:nvPr/>
        </p:nvSpPr>
        <p:spPr>
          <a:xfrm>
            <a:off x="9637118" y="1487807"/>
            <a:ext cx="16169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6E6E6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Output Layer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5B7E5B1D-1E2B-2529-F4DB-7AD167C15100}"/>
              </a:ext>
            </a:extLst>
          </p:cNvPr>
          <p:cNvSpPr txBox="1"/>
          <p:nvPr/>
        </p:nvSpPr>
        <p:spPr>
          <a:xfrm>
            <a:off x="4248443" y="401748"/>
            <a:ext cx="3266853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Technical Architecture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2B3C828-5937-CD2E-4E0A-43A7EBDD16F1}"/>
              </a:ext>
            </a:extLst>
          </p:cNvPr>
          <p:cNvSpPr txBox="1"/>
          <p:nvPr/>
        </p:nvSpPr>
        <p:spPr>
          <a:xfrm>
            <a:off x="4157087" y="2276702"/>
            <a:ext cx="164179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 Source: 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Kaggle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6618143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E24AF7AB-B9C4-2A3E-C985-2D87CCB831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68029" y="1441547"/>
            <a:ext cx="4626000" cy="4252777"/>
          </a:xfrm>
          <a:prstGeom prst="rect">
            <a:avLst/>
          </a:prstGeom>
          <a:solidFill>
            <a:schemeClr val="bg1"/>
          </a:solidFill>
          <a:ln>
            <a:solidFill>
              <a:schemeClr val="dk1"/>
            </a:solidFill>
          </a:ln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36E3E4B-05BC-3DCF-9284-E45E32CB6DFE}"/>
              </a:ext>
            </a:extLst>
          </p:cNvPr>
          <p:cNvSpPr txBox="1"/>
          <p:nvPr/>
        </p:nvSpPr>
        <p:spPr>
          <a:xfrm>
            <a:off x="4961508" y="407847"/>
            <a:ext cx="2756437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Evaluation</a:t>
            </a:r>
          </a:p>
        </p:txBody>
      </p:sp>
    </p:spTree>
    <p:extLst>
      <p:ext uri="{BB962C8B-B14F-4D97-AF65-F5344CB8AC3E}">
        <p14:creationId xmlns:p14="http://schemas.microsoft.com/office/powerpoint/2010/main" val="39511188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B86585B-7485-0337-6DE0-DEDAF2AA5CB5}"/>
              </a:ext>
            </a:extLst>
          </p:cNvPr>
          <p:cNvSpPr txBox="1"/>
          <p:nvPr/>
        </p:nvSpPr>
        <p:spPr>
          <a:xfrm>
            <a:off x="2709746" y="407847"/>
            <a:ext cx="6779942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Enhancement &amp; Integrations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C3F5A56-9A7B-96DC-C6D4-C7A38D5F2D3C}"/>
              </a:ext>
            </a:extLst>
          </p:cNvPr>
          <p:cNvSpPr txBox="1"/>
          <p:nvPr/>
        </p:nvSpPr>
        <p:spPr>
          <a:xfrm>
            <a:off x="947968" y="1698173"/>
            <a:ext cx="52052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Integrate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data to enhance LLM clinical context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63D6EFB-12DF-2E77-2DBD-0646E9607ADC}"/>
              </a:ext>
            </a:extLst>
          </p:cNvPr>
          <p:cNvSpPr txBox="1"/>
          <p:nvPr/>
        </p:nvSpPr>
        <p:spPr>
          <a:xfrm>
            <a:off x="1879599" y="2431482"/>
            <a:ext cx="788125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Fine-tune DenseNet121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 large, diverse datasets using high-end GPU systems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70AA0D7-500B-5001-D03D-BA7555CE25EB}"/>
              </a:ext>
            </a:extLst>
          </p:cNvPr>
          <p:cNvSpPr txBox="1"/>
          <p:nvPr/>
        </p:nvSpPr>
        <p:spPr>
          <a:xfrm>
            <a:off x="2976999" y="3186562"/>
            <a:ext cx="632311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Leverage secure, advanced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Azure OpenAI LLMs such as gpt-4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AAB9E05-6DEE-3F86-6ABD-0F132D9BE931}"/>
              </a:ext>
            </a:extLst>
          </p:cNvPr>
          <p:cNvSpPr txBox="1"/>
          <p:nvPr/>
        </p:nvSpPr>
        <p:spPr>
          <a:xfrm>
            <a:off x="5413830" y="3941642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asynchronous model calling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efficiency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578C2C3-0E81-3261-D27F-E621D823E536}"/>
              </a:ext>
            </a:extLst>
          </p:cNvPr>
          <p:cNvSpPr txBox="1"/>
          <p:nvPr/>
        </p:nvSpPr>
        <p:spPr>
          <a:xfrm>
            <a:off x="6284686" y="4696722"/>
            <a:ext cx="522514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Deploy via AWS Kubernetes with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multi-pod scaling</a:t>
            </a: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22096E66-CC30-FC4D-FFA2-803CE4491E03}"/>
              </a:ext>
            </a:extLst>
          </p:cNvPr>
          <p:cNvCxnSpPr/>
          <p:nvPr/>
        </p:nvCxnSpPr>
        <p:spPr>
          <a:xfrm>
            <a:off x="4339772" y="2096533"/>
            <a:ext cx="0" cy="36397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DE034B45-28FB-828B-9632-82B46D90CBF1}"/>
              </a:ext>
            </a:extLst>
          </p:cNvPr>
          <p:cNvCxnSpPr/>
          <p:nvPr/>
        </p:nvCxnSpPr>
        <p:spPr>
          <a:xfrm>
            <a:off x="5812970" y="2822585"/>
            <a:ext cx="0" cy="36397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3E7E2A93-56FA-33F3-6736-A82457E805CB}"/>
              </a:ext>
            </a:extLst>
          </p:cNvPr>
          <p:cNvCxnSpPr/>
          <p:nvPr/>
        </p:nvCxnSpPr>
        <p:spPr>
          <a:xfrm>
            <a:off x="7126513" y="3577665"/>
            <a:ext cx="0" cy="36397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30A7BFC7-CBE8-669F-2543-9D37A0FFF5B3}"/>
              </a:ext>
            </a:extLst>
          </p:cNvPr>
          <p:cNvCxnSpPr>
            <a:cxnSpLocks/>
          </p:cNvCxnSpPr>
          <p:nvPr/>
        </p:nvCxnSpPr>
        <p:spPr>
          <a:xfrm>
            <a:off x="8222341" y="4332745"/>
            <a:ext cx="0" cy="36397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9408856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18153B8-26DF-2010-CFCA-4EFF0B20E36C}"/>
              </a:ext>
            </a:extLst>
          </p:cNvPr>
          <p:cNvSpPr txBox="1"/>
          <p:nvPr/>
        </p:nvSpPr>
        <p:spPr>
          <a:xfrm>
            <a:off x="4393579" y="2531327"/>
            <a:ext cx="364645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22781186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7424</TotalTime>
  <Words>584</Words>
  <Application>Microsoft Macintosh PowerPoint</Application>
  <PresentationFormat>Widescreen</PresentationFormat>
  <Paragraphs>82</Paragraphs>
  <Slides>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Aptos</vt:lpstr>
      <vt:lpstr>Aptos Display</vt:lpstr>
      <vt:lpstr>Arial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Surya Chandra Raju Kurapati</dc:creator>
  <cp:lastModifiedBy>Surya Chandra Raju Kurapati</cp:lastModifiedBy>
  <cp:revision>27</cp:revision>
  <dcterms:created xsi:type="dcterms:W3CDTF">2025-10-16T07:44:16Z</dcterms:created>
  <dcterms:modified xsi:type="dcterms:W3CDTF">2025-11-17T17:29:55Z</dcterms:modified>
</cp:coreProperties>
</file>