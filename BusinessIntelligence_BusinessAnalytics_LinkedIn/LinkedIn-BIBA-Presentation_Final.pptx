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8" r:id="rId2"/>
    <p:sldId id="265" r:id="rId3"/>
    <p:sldId id="266" r:id="rId4"/>
    <p:sldId id="256" r:id="rId5"/>
    <p:sldId id="257" r:id="rId6"/>
    <p:sldId id="258" r:id="rId7"/>
    <p:sldId id="259" r:id="rId8"/>
    <p:sldId id="270" r:id="rId9"/>
    <p:sldId id="271" r:id="rId10"/>
    <p:sldId id="272" r:id="rId11"/>
    <p:sldId id="273" r:id="rId12"/>
    <p:sldId id="261" r:id="rId13"/>
    <p:sldId id="260" r:id="rId14"/>
    <p:sldId id="262" r:id="rId15"/>
    <p:sldId id="263" r:id="rId16"/>
    <p:sldId id="264" r:id="rId17"/>
    <p:sldId id="267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74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9"/>
    <p:restoredTop sz="94618"/>
  </p:normalViewPr>
  <p:slideViewPr>
    <p:cSldViewPr snapToGrid="0">
      <p:cViewPr>
        <p:scale>
          <a:sx n="99" d="100"/>
          <a:sy n="99" d="100"/>
        </p:scale>
        <p:origin x="10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9BBE5A-1947-9B49-BD17-0FC39A2A28F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B17B5B63-D043-E545-AF80-757B86670817}">
      <dgm:prSet phldrT="[Text]"/>
      <dgm:spPr>
        <a:solidFill>
          <a:srgbClr val="0374B3"/>
        </a:solidFill>
      </dgm:spPr>
      <dgm:t>
        <a:bodyPr/>
        <a:lstStyle/>
        <a:p>
          <a:r>
            <a:rPr lang="en-GB" dirty="0"/>
            <a:t>Low Application Conversion Rates</a:t>
          </a:r>
        </a:p>
      </dgm:t>
    </dgm:pt>
    <dgm:pt modelId="{129A8DD4-CAF4-8A40-B5EF-86F66428B6C3}" type="parTrans" cxnId="{F9498352-C21C-714C-A004-BB67D3DFC69C}">
      <dgm:prSet/>
      <dgm:spPr/>
      <dgm:t>
        <a:bodyPr/>
        <a:lstStyle/>
        <a:p>
          <a:endParaRPr lang="en-GB"/>
        </a:p>
      </dgm:t>
    </dgm:pt>
    <dgm:pt modelId="{86264E78-3DB6-7C45-B8A3-099F54788780}" type="sibTrans" cxnId="{F9498352-C21C-714C-A004-BB67D3DFC69C}">
      <dgm:prSet/>
      <dgm:spPr/>
      <dgm:t>
        <a:bodyPr/>
        <a:lstStyle/>
        <a:p>
          <a:endParaRPr lang="en-GB"/>
        </a:p>
      </dgm:t>
    </dgm:pt>
    <dgm:pt modelId="{D0599047-EE17-6F48-B876-681C6A9BB390}">
      <dgm:prSet phldrT="[Text]"/>
      <dgm:spPr>
        <a:solidFill>
          <a:srgbClr val="0374B3"/>
        </a:solidFill>
      </dgm:spPr>
      <dgm:t>
        <a:bodyPr/>
        <a:lstStyle/>
        <a:p>
          <a:r>
            <a:rPr lang="en-GB" dirty="0"/>
            <a:t>Revenue Leakage (Poor Monetization)</a:t>
          </a:r>
        </a:p>
      </dgm:t>
    </dgm:pt>
    <dgm:pt modelId="{B256CD6B-4966-E549-882F-2A583EFD83D2}" type="parTrans" cxnId="{36D35F7E-66E0-BC44-8B59-4FEFA2949016}">
      <dgm:prSet/>
      <dgm:spPr/>
      <dgm:t>
        <a:bodyPr/>
        <a:lstStyle/>
        <a:p>
          <a:endParaRPr lang="en-GB"/>
        </a:p>
      </dgm:t>
    </dgm:pt>
    <dgm:pt modelId="{BB1F2026-4370-014E-B173-440AD823F8BB}" type="sibTrans" cxnId="{36D35F7E-66E0-BC44-8B59-4FEFA2949016}">
      <dgm:prSet/>
      <dgm:spPr/>
      <dgm:t>
        <a:bodyPr/>
        <a:lstStyle/>
        <a:p>
          <a:endParaRPr lang="en-GB"/>
        </a:p>
      </dgm:t>
    </dgm:pt>
    <dgm:pt modelId="{2CE04108-C1FE-F44C-8671-874DF4D085DF}">
      <dgm:prSet phldrT="[Text]"/>
      <dgm:spPr>
        <a:solidFill>
          <a:srgbClr val="0374B3"/>
        </a:solidFill>
      </dgm:spPr>
      <dgm:t>
        <a:bodyPr/>
        <a:lstStyle/>
        <a:p>
          <a:r>
            <a:rPr lang="en-GB" dirty="0"/>
            <a:t>High Employer Churn</a:t>
          </a:r>
        </a:p>
      </dgm:t>
    </dgm:pt>
    <dgm:pt modelId="{43CBE04D-F49A-2E47-81F2-3F9F98AB7CCB}" type="parTrans" cxnId="{8CB1238A-0851-0C45-B203-543802D6F9D1}">
      <dgm:prSet/>
      <dgm:spPr/>
      <dgm:t>
        <a:bodyPr/>
        <a:lstStyle/>
        <a:p>
          <a:endParaRPr lang="en-GB"/>
        </a:p>
      </dgm:t>
    </dgm:pt>
    <dgm:pt modelId="{E922EC39-D130-D440-BB2F-3FDAF417B388}" type="sibTrans" cxnId="{8CB1238A-0851-0C45-B203-543802D6F9D1}">
      <dgm:prSet/>
      <dgm:spPr/>
      <dgm:t>
        <a:bodyPr/>
        <a:lstStyle/>
        <a:p>
          <a:endParaRPr lang="en-GB"/>
        </a:p>
      </dgm:t>
    </dgm:pt>
    <dgm:pt modelId="{5FF1591C-E1B4-734C-9A71-6C3A459C0268}">
      <dgm:prSet phldrT="[Text]"/>
      <dgm:spPr>
        <a:solidFill>
          <a:srgbClr val="0374B3"/>
        </a:solidFill>
      </dgm:spPr>
      <dgm:t>
        <a:bodyPr/>
        <a:lstStyle/>
        <a:p>
          <a:r>
            <a:rPr lang="en-GB" dirty="0"/>
            <a:t>Lack of Insights</a:t>
          </a:r>
        </a:p>
      </dgm:t>
    </dgm:pt>
    <dgm:pt modelId="{BECD86E0-A625-F644-A43D-F451B18BEE9F}" type="parTrans" cxnId="{BD814C94-8399-4C40-9E4E-0A87A04CC84A}">
      <dgm:prSet/>
      <dgm:spPr/>
      <dgm:t>
        <a:bodyPr/>
        <a:lstStyle/>
        <a:p>
          <a:endParaRPr lang="en-GB"/>
        </a:p>
      </dgm:t>
    </dgm:pt>
    <dgm:pt modelId="{4CF88EFB-B6CC-5542-B383-BF92D7772BCB}" type="sibTrans" cxnId="{BD814C94-8399-4C40-9E4E-0A87A04CC84A}">
      <dgm:prSet/>
      <dgm:spPr/>
      <dgm:t>
        <a:bodyPr/>
        <a:lstStyle/>
        <a:p>
          <a:endParaRPr lang="en-GB"/>
        </a:p>
      </dgm:t>
    </dgm:pt>
    <dgm:pt modelId="{6F3987A7-44BF-A44A-8AB8-A1785AF727B5}">
      <dgm:prSet phldrT="[Text]"/>
      <dgm:spPr>
        <a:solidFill>
          <a:srgbClr val="0374B3"/>
        </a:solidFill>
      </dgm:spPr>
      <dgm:t>
        <a:bodyPr/>
        <a:lstStyle/>
        <a:p>
          <a:r>
            <a:rPr lang="en-GB" dirty="0"/>
            <a:t>Manual &amp; Reactive Process</a:t>
          </a:r>
        </a:p>
      </dgm:t>
    </dgm:pt>
    <dgm:pt modelId="{797D2DF3-AE80-C54B-A6C8-DFA33636C719}" type="parTrans" cxnId="{CA6CB6E1-CB4F-0A48-A652-C2275ED1165C}">
      <dgm:prSet/>
      <dgm:spPr/>
      <dgm:t>
        <a:bodyPr/>
        <a:lstStyle/>
        <a:p>
          <a:endParaRPr lang="en-GB"/>
        </a:p>
      </dgm:t>
    </dgm:pt>
    <dgm:pt modelId="{BD61DA56-E178-2B4C-9B32-6A3F8C78E37A}" type="sibTrans" cxnId="{CA6CB6E1-CB4F-0A48-A652-C2275ED1165C}">
      <dgm:prSet/>
      <dgm:spPr/>
      <dgm:t>
        <a:bodyPr/>
        <a:lstStyle/>
        <a:p>
          <a:endParaRPr lang="en-GB"/>
        </a:p>
      </dgm:t>
    </dgm:pt>
    <dgm:pt modelId="{AB455C15-4252-B14E-A1DB-FA99E9534DD0}" type="pres">
      <dgm:prSet presAssocID="{C09BBE5A-1947-9B49-BD17-0FC39A2A28F2}" presName="Name0" presStyleCnt="0">
        <dgm:presLayoutVars>
          <dgm:dir/>
          <dgm:animLvl val="lvl"/>
          <dgm:resizeHandles val="exact"/>
        </dgm:presLayoutVars>
      </dgm:prSet>
      <dgm:spPr/>
    </dgm:pt>
    <dgm:pt modelId="{D9DE46D9-D9E9-C049-A7CE-DEBDFAF10F6B}" type="pres">
      <dgm:prSet presAssocID="{B17B5B63-D043-E545-AF80-757B86670817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6A579ACA-6CB4-E24E-8477-17DA9B4DFC82}" type="pres">
      <dgm:prSet presAssocID="{86264E78-3DB6-7C45-B8A3-099F54788780}" presName="parTxOnlySpace" presStyleCnt="0"/>
      <dgm:spPr/>
    </dgm:pt>
    <dgm:pt modelId="{E4A0EA39-BA40-774F-BBDC-477A707503FA}" type="pres">
      <dgm:prSet presAssocID="{D0599047-EE17-6F48-B876-681C6A9BB390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B7D8717-A8F3-DC40-B89D-EC2DB00EDC67}" type="pres">
      <dgm:prSet presAssocID="{BB1F2026-4370-014E-B173-440AD823F8BB}" presName="parTxOnlySpace" presStyleCnt="0"/>
      <dgm:spPr/>
    </dgm:pt>
    <dgm:pt modelId="{86330D9F-581B-854A-A690-1C7C25BF1E8F}" type="pres">
      <dgm:prSet presAssocID="{2CE04108-C1FE-F44C-8671-874DF4D085DF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581AB250-E1D6-D040-9E27-D80C79395288}" type="pres">
      <dgm:prSet presAssocID="{E922EC39-D130-D440-BB2F-3FDAF417B388}" presName="parTxOnlySpace" presStyleCnt="0"/>
      <dgm:spPr/>
    </dgm:pt>
    <dgm:pt modelId="{2AADAB23-9E39-1D41-B90A-53DE5F48F48E}" type="pres">
      <dgm:prSet presAssocID="{5FF1591C-E1B4-734C-9A71-6C3A459C0268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374061E1-B01A-F64D-BD2B-B8C485CAD963}" type="pres">
      <dgm:prSet presAssocID="{4CF88EFB-B6CC-5542-B383-BF92D7772BCB}" presName="parTxOnlySpace" presStyleCnt="0"/>
      <dgm:spPr/>
    </dgm:pt>
    <dgm:pt modelId="{6FEB871A-4A00-BC4C-80AD-7B00B378391D}" type="pres">
      <dgm:prSet presAssocID="{6F3987A7-44BF-A44A-8AB8-A1785AF727B5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374FE06-2758-9E43-BDC5-0E52D82ED982}" type="presOf" srcId="{D0599047-EE17-6F48-B876-681C6A9BB390}" destId="{E4A0EA39-BA40-774F-BBDC-477A707503FA}" srcOrd="0" destOrd="0" presId="urn:microsoft.com/office/officeart/2005/8/layout/chevron1"/>
    <dgm:cxn modelId="{67A96823-1DBD-F348-83F5-17F0C9822C93}" type="presOf" srcId="{C09BBE5A-1947-9B49-BD17-0FC39A2A28F2}" destId="{AB455C15-4252-B14E-A1DB-FA99E9534DD0}" srcOrd="0" destOrd="0" presId="urn:microsoft.com/office/officeart/2005/8/layout/chevron1"/>
    <dgm:cxn modelId="{81060B2C-2AAD-B947-8013-1C8B78E5A3C3}" type="presOf" srcId="{6F3987A7-44BF-A44A-8AB8-A1785AF727B5}" destId="{6FEB871A-4A00-BC4C-80AD-7B00B378391D}" srcOrd="0" destOrd="0" presId="urn:microsoft.com/office/officeart/2005/8/layout/chevron1"/>
    <dgm:cxn modelId="{F9498352-C21C-714C-A004-BB67D3DFC69C}" srcId="{C09BBE5A-1947-9B49-BD17-0FC39A2A28F2}" destId="{B17B5B63-D043-E545-AF80-757B86670817}" srcOrd="0" destOrd="0" parTransId="{129A8DD4-CAF4-8A40-B5EF-86F66428B6C3}" sibTransId="{86264E78-3DB6-7C45-B8A3-099F54788780}"/>
    <dgm:cxn modelId="{79CB8875-B977-F347-85A1-23A9C817783B}" type="presOf" srcId="{2CE04108-C1FE-F44C-8671-874DF4D085DF}" destId="{86330D9F-581B-854A-A690-1C7C25BF1E8F}" srcOrd="0" destOrd="0" presId="urn:microsoft.com/office/officeart/2005/8/layout/chevron1"/>
    <dgm:cxn modelId="{36D35F7E-66E0-BC44-8B59-4FEFA2949016}" srcId="{C09BBE5A-1947-9B49-BD17-0FC39A2A28F2}" destId="{D0599047-EE17-6F48-B876-681C6A9BB390}" srcOrd="1" destOrd="0" parTransId="{B256CD6B-4966-E549-882F-2A583EFD83D2}" sibTransId="{BB1F2026-4370-014E-B173-440AD823F8BB}"/>
    <dgm:cxn modelId="{8CB1238A-0851-0C45-B203-543802D6F9D1}" srcId="{C09BBE5A-1947-9B49-BD17-0FC39A2A28F2}" destId="{2CE04108-C1FE-F44C-8671-874DF4D085DF}" srcOrd="2" destOrd="0" parTransId="{43CBE04D-F49A-2E47-81F2-3F9F98AB7CCB}" sibTransId="{E922EC39-D130-D440-BB2F-3FDAF417B388}"/>
    <dgm:cxn modelId="{BD814C94-8399-4C40-9E4E-0A87A04CC84A}" srcId="{C09BBE5A-1947-9B49-BD17-0FC39A2A28F2}" destId="{5FF1591C-E1B4-734C-9A71-6C3A459C0268}" srcOrd="3" destOrd="0" parTransId="{BECD86E0-A625-F644-A43D-F451B18BEE9F}" sibTransId="{4CF88EFB-B6CC-5542-B383-BF92D7772BCB}"/>
    <dgm:cxn modelId="{06F007B4-4BAD-604F-A53D-EA2DCC3332AC}" type="presOf" srcId="{B17B5B63-D043-E545-AF80-757B86670817}" destId="{D9DE46D9-D9E9-C049-A7CE-DEBDFAF10F6B}" srcOrd="0" destOrd="0" presId="urn:microsoft.com/office/officeart/2005/8/layout/chevron1"/>
    <dgm:cxn modelId="{E4206FD9-FD7C-EE47-93BF-ACF786802981}" type="presOf" srcId="{5FF1591C-E1B4-734C-9A71-6C3A459C0268}" destId="{2AADAB23-9E39-1D41-B90A-53DE5F48F48E}" srcOrd="0" destOrd="0" presId="urn:microsoft.com/office/officeart/2005/8/layout/chevron1"/>
    <dgm:cxn modelId="{CA6CB6E1-CB4F-0A48-A652-C2275ED1165C}" srcId="{C09BBE5A-1947-9B49-BD17-0FC39A2A28F2}" destId="{6F3987A7-44BF-A44A-8AB8-A1785AF727B5}" srcOrd="4" destOrd="0" parTransId="{797D2DF3-AE80-C54B-A6C8-DFA33636C719}" sibTransId="{BD61DA56-E178-2B4C-9B32-6A3F8C78E37A}"/>
    <dgm:cxn modelId="{938BE22D-12D3-8A4A-B833-1A6D17142489}" type="presParOf" srcId="{AB455C15-4252-B14E-A1DB-FA99E9534DD0}" destId="{D9DE46D9-D9E9-C049-A7CE-DEBDFAF10F6B}" srcOrd="0" destOrd="0" presId="urn:microsoft.com/office/officeart/2005/8/layout/chevron1"/>
    <dgm:cxn modelId="{7E508F11-2C58-DC43-AB67-A8628A3A22E5}" type="presParOf" srcId="{AB455C15-4252-B14E-A1DB-FA99E9534DD0}" destId="{6A579ACA-6CB4-E24E-8477-17DA9B4DFC82}" srcOrd="1" destOrd="0" presId="urn:microsoft.com/office/officeart/2005/8/layout/chevron1"/>
    <dgm:cxn modelId="{8495F7BD-F3B6-2547-8B01-670E68E52486}" type="presParOf" srcId="{AB455C15-4252-B14E-A1DB-FA99E9534DD0}" destId="{E4A0EA39-BA40-774F-BBDC-477A707503FA}" srcOrd="2" destOrd="0" presId="urn:microsoft.com/office/officeart/2005/8/layout/chevron1"/>
    <dgm:cxn modelId="{ED224CC9-8BF5-8E48-BE31-490C5717C399}" type="presParOf" srcId="{AB455C15-4252-B14E-A1DB-FA99E9534DD0}" destId="{BB7D8717-A8F3-DC40-B89D-EC2DB00EDC67}" srcOrd="3" destOrd="0" presId="urn:microsoft.com/office/officeart/2005/8/layout/chevron1"/>
    <dgm:cxn modelId="{388B27C6-33DB-4E49-A0A5-565C668C9192}" type="presParOf" srcId="{AB455C15-4252-B14E-A1DB-FA99E9534DD0}" destId="{86330D9F-581B-854A-A690-1C7C25BF1E8F}" srcOrd="4" destOrd="0" presId="urn:microsoft.com/office/officeart/2005/8/layout/chevron1"/>
    <dgm:cxn modelId="{18F1FCCC-85EB-374D-AF8F-9B43CF93B502}" type="presParOf" srcId="{AB455C15-4252-B14E-A1DB-FA99E9534DD0}" destId="{581AB250-E1D6-D040-9E27-D80C79395288}" srcOrd="5" destOrd="0" presId="urn:microsoft.com/office/officeart/2005/8/layout/chevron1"/>
    <dgm:cxn modelId="{63E263AB-D8A3-4A47-A012-DAC64BF7FE9E}" type="presParOf" srcId="{AB455C15-4252-B14E-A1DB-FA99E9534DD0}" destId="{2AADAB23-9E39-1D41-B90A-53DE5F48F48E}" srcOrd="6" destOrd="0" presId="urn:microsoft.com/office/officeart/2005/8/layout/chevron1"/>
    <dgm:cxn modelId="{E3E544AF-BD4B-5549-B919-0EF5F6785ED8}" type="presParOf" srcId="{AB455C15-4252-B14E-A1DB-FA99E9534DD0}" destId="{374061E1-B01A-F64D-BD2B-B8C485CAD963}" srcOrd="7" destOrd="0" presId="urn:microsoft.com/office/officeart/2005/8/layout/chevron1"/>
    <dgm:cxn modelId="{FFBA4189-1BE9-F04E-B349-EB2EF2413AB8}" type="presParOf" srcId="{AB455C15-4252-B14E-A1DB-FA99E9534DD0}" destId="{6FEB871A-4A00-BC4C-80AD-7B00B378391D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9295B-7990-CF42-8A10-E7DDF993CCDA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8FE2F71-F519-B843-B8B5-556A8ED3BE67}">
      <dgm:prSet phldrT="[Text]" custT="1"/>
      <dgm:spPr>
        <a:solidFill>
          <a:srgbClr val="0374B3"/>
        </a:solidFill>
      </dgm:spPr>
      <dgm:t>
        <a:bodyPr/>
        <a:lstStyle/>
        <a:p>
          <a:r>
            <a:rPr lang="en-GB" sz="3600" dirty="0">
              <a:latin typeface="Times New Roman" panose="02020603050405020304" pitchFamily="18" charset="0"/>
              <a:cs typeface="Times New Roman" panose="02020603050405020304" pitchFamily="18" charset="0"/>
            </a:rPr>
            <a:t>Goals</a:t>
          </a:r>
        </a:p>
      </dgm:t>
    </dgm:pt>
    <dgm:pt modelId="{1E5785D8-5459-0643-A853-B8CB96D3F6DA}" type="parTrans" cxnId="{5C9327C9-BFBF-8343-8F59-3D9730376BE9}">
      <dgm:prSet/>
      <dgm:spPr/>
      <dgm:t>
        <a:bodyPr/>
        <a:lstStyle/>
        <a:p>
          <a:endParaRPr lang="en-GB"/>
        </a:p>
      </dgm:t>
    </dgm:pt>
    <dgm:pt modelId="{807B5F63-D9E5-D342-AB8A-8914B053D4C9}" type="sibTrans" cxnId="{5C9327C9-BFBF-8343-8F59-3D9730376BE9}">
      <dgm:prSet/>
      <dgm:spPr/>
      <dgm:t>
        <a:bodyPr/>
        <a:lstStyle/>
        <a:p>
          <a:endParaRPr lang="en-GB"/>
        </a:p>
      </dgm:t>
    </dgm:pt>
    <dgm:pt modelId="{AD8F21BD-BEEA-6E47-BFBE-31BB4894E576}">
      <dgm:prSet phldrT="[Text]" custT="1"/>
      <dgm:spPr>
        <a:solidFill>
          <a:schemeClr val="bg1">
            <a:alpha val="90000"/>
          </a:schemeClr>
        </a:solidFill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GB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Increase Job Conversion Ratio    (Applies / Views)</a:t>
          </a:r>
        </a:p>
      </dgm:t>
    </dgm:pt>
    <dgm:pt modelId="{C5161AB1-E25D-9E43-B1CC-EC377964E754}" type="parTrans" cxnId="{BB6FADC1-8225-1342-9C44-4F5C3F822A22}">
      <dgm:prSet/>
      <dgm:spPr/>
      <dgm:t>
        <a:bodyPr/>
        <a:lstStyle/>
        <a:p>
          <a:endParaRPr lang="en-GB"/>
        </a:p>
      </dgm:t>
    </dgm:pt>
    <dgm:pt modelId="{7DEEE2FB-CF20-5E4A-9F35-8C14D8DB4758}" type="sibTrans" cxnId="{BB6FADC1-8225-1342-9C44-4F5C3F822A22}">
      <dgm:prSet/>
      <dgm:spPr/>
      <dgm:t>
        <a:bodyPr/>
        <a:lstStyle/>
        <a:p>
          <a:endParaRPr lang="en-GB"/>
        </a:p>
      </dgm:t>
    </dgm:pt>
    <dgm:pt modelId="{78B7E538-CF00-5C4D-AAD0-DAABA5980146}">
      <dgm:prSet phldrT="[Text]" custT="1"/>
      <dgm:spPr>
        <a:solidFill>
          <a:schemeClr val="bg1">
            <a:alpha val="90000"/>
          </a:schemeClr>
        </a:solidFill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GB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Maximize ROI for employers</a:t>
          </a:r>
        </a:p>
      </dgm:t>
    </dgm:pt>
    <dgm:pt modelId="{E4DAB20F-5C0D-9A45-87C9-EAFAB6FE3C1F}" type="parTrans" cxnId="{03AFE44A-213A-A246-B5C2-1084EB1D9FEC}">
      <dgm:prSet/>
      <dgm:spPr/>
      <dgm:t>
        <a:bodyPr/>
        <a:lstStyle/>
        <a:p>
          <a:endParaRPr lang="en-GB"/>
        </a:p>
      </dgm:t>
    </dgm:pt>
    <dgm:pt modelId="{1E394FCF-FFCF-AF42-9E13-3D11672A103D}" type="sibTrans" cxnId="{03AFE44A-213A-A246-B5C2-1084EB1D9FEC}">
      <dgm:prSet/>
      <dgm:spPr/>
      <dgm:t>
        <a:bodyPr/>
        <a:lstStyle/>
        <a:p>
          <a:endParaRPr lang="en-GB"/>
        </a:p>
      </dgm:t>
    </dgm:pt>
    <dgm:pt modelId="{CB694599-2BDD-D849-B97B-BACA376027F5}">
      <dgm:prSet phldrT="[Text]" custT="1"/>
      <dgm:spPr>
        <a:solidFill>
          <a:srgbClr val="0374B3"/>
        </a:solidFill>
      </dgm:spPr>
      <dgm:t>
        <a:bodyPr/>
        <a:lstStyle/>
        <a:p>
          <a:r>
            <a:rPr lang="en-GB" sz="3600" dirty="0">
              <a:latin typeface="Times New Roman" panose="02020603050405020304" pitchFamily="18" charset="0"/>
              <a:cs typeface="Times New Roman" panose="02020603050405020304" pitchFamily="18" charset="0"/>
            </a:rPr>
            <a:t>Strategy</a:t>
          </a:r>
        </a:p>
      </dgm:t>
    </dgm:pt>
    <dgm:pt modelId="{74090B00-3FA0-FC41-801A-EACB210973FA}" type="parTrans" cxnId="{1CF6D181-45CF-4144-B4C9-A89496419258}">
      <dgm:prSet/>
      <dgm:spPr/>
      <dgm:t>
        <a:bodyPr/>
        <a:lstStyle/>
        <a:p>
          <a:endParaRPr lang="en-GB"/>
        </a:p>
      </dgm:t>
    </dgm:pt>
    <dgm:pt modelId="{3751D751-211B-A041-895D-42AA729AC29C}" type="sibTrans" cxnId="{1CF6D181-45CF-4144-B4C9-A89496419258}">
      <dgm:prSet/>
      <dgm:spPr/>
      <dgm:t>
        <a:bodyPr/>
        <a:lstStyle/>
        <a:p>
          <a:endParaRPr lang="en-GB"/>
        </a:p>
      </dgm:t>
    </dgm:pt>
    <dgm:pt modelId="{F3356B17-62A8-2D49-AC2F-C4006B1F46EB}">
      <dgm:prSet phldrT="[Text]" custT="1"/>
      <dgm:spPr>
        <a:solidFill>
          <a:schemeClr val="bg1">
            <a:alpha val="90000"/>
          </a:schemeClr>
        </a:solidFill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GB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CRM Implementation – Centralized Integration</a:t>
          </a:r>
        </a:p>
      </dgm:t>
    </dgm:pt>
    <dgm:pt modelId="{1BD69AD5-8B20-F344-8748-04A8F58ED666}" type="sibTrans" cxnId="{1E46E3FA-0E2B-5847-8D42-841A9BCC8C8A}">
      <dgm:prSet/>
      <dgm:spPr/>
      <dgm:t>
        <a:bodyPr/>
        <a:lstStyle/>
        <a:p>
          <a:endParaRPr lang="en-GB"/>
        </a:p>
      </dgm:t>
    </dgm:pt>
    <dgm:pt modelId="{7A325D28-CF92-794C-B860-68A7BB43CD2A}" type="parTrans" cxnId="{1E46E3FA-0E2B-5847-8D42-841A9BCC8C8A}">
      <dgm:prSet/>
      <dgm:spPr/>
      <dgm:t>
        <a:bodyPr/>
        <a:lstStyle/>
        <a:p>
          <a:endParaRPr lang="en-GB"/>
        </a:p>
      </dgm:t>
    </dgm:pt>
    <dgm:pt modelId="{9D625CD5-712A-6341-994E-BC53DB4B1776}">
      <dgm:prSet phldrT="[Text]" custT="1"/>
      <dgm:spPr>
        <a:solidFill>
          <a:schemeClr val="bg1">
            <a:alpha val="90000"/>
          </a:schemeClr>
        </a:solidFill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GB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BI Dashboards – Performance &amp; Alerts</a:t>
          </a:r>
        </a:p>
      </dgm:t>
    </dgm:pt>
    <dgm:pt modelId="{89E7B13F-E79C-984A-AB91-8662C73C47E8}" type="sibTrans" cxnId="{35FA234F-1E86-2C47-9903-11E7A4968F7D}">
      <dgm:prSet/>
      <dgm:spPr/>
      <dgm:t>
        <a:bodyPr/>
        <a:lstStyle/>
        <a:p>
          <a:endParaRPr lang="en-GB"/>
        </a:p>
      </dgm:t>
    </dgm:pt>
    <dgm:pt modelId="{780F9227-CC0C-A04E-94B7-72DE06C92F78}" type="parTrans" cxnId="{35FA234F-1E86-2C47-9903-11E7A4968F7D}">
      <dgm:prSet/>
      <dgm:spPr/>
      <dgm:t>
        <a:bodyPr/>
        <a:lstStyle/>
        <a:p>
          <a:endParaRPr lang="en-GB"/>
        </a:p>
      </dgm:t>
    </dgm:pt>
    <dgm:pt modelId="{F0A73B27-78B1-334B-B307-862C89B75AB9}">
      <dgm:prSet phldrT="[Text]" custT="1"/>
      <dgm:spPr>
        <a:solidFill>
          <a:schemeClr val="bg1">
            <a:alpha val="90000"/>
          </a:schemeClr>
        </a:solidFill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GB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Target Employers - Sponsorship</a:t>
          </a:r>
        </a:p>
      </dgm:t>
    </dgm:pt>
    <dgm:pt modelId="{1C92C068-027B-8547-9701-3826DB570BD1}" type="sibTrans" cxnId="{756678FC-5E6E-E346-B1AB-E70F7210DB3F}">
      <dgm:prSet/>
      <dgm:spPr/>
      <dgm:t>
        <a:bodyPr/>
        <a:lstStyle/>
        <a:p>
          <a:endParaRPr lang="en-GB"/>
        </a:p>
      </dgm:t>
    </dgm:pt>
    <dgm:pt modelId="{52374AB4-772A-7D4E-B098-781999E2034D}" type="parTrans" cxnId="{756678FC-5E6E-E346-B1AB-E70F7210DB3F}">
      <dgm:prSet/>
      <dgm:spPr/>
      <dgm:t>
        <a:bodyPr/>
        <a:lstStyle/>
        <a:p>
          <a:endParaRPr lang="en-GB"/>
        </a:p>
      </dgm:t>
    </dgm:pt>
    <dgm:pt modelId="{CDA906BB-87F9-C046-8E48-1CF819F6C5D2}">
      <dgm:prSet phldrT="[Text]" custT="1"/>
      <dgm:spPr>
        <a:solidFill>
          <a:schemeClr val="bg1">
            <a:alpha val="90000"/>
          </a:schemeClr>
        </a:solidFill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GB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Strategic frameworks – SWOT, Balance Scorecard, PDCA</a:t>
          </a:r>
        </a:p>
      </dgm:t>
    </dgm:pt>
    <dgm:pt modelId="{41BEA058-3D40-624B-8349-23395727D94A}" type="sibTrans" cxnId="{F7C5E32E-587D-9848-B4A7-97805BE69D03}">
      <dgm:prSet/>
      <dgm:spPr/>
      <dgm:t>
        <a:bodyPr/>
        <a:lstStyle/>
        <a:p>
          <a:endParaRPr lang="en-GB"/>
        </a:p>
      </dgm:t>
    </dgm:pt>
    <dgm:pt modelId="{C88B0558-2786-6B49-B15A-325FA5025367}" type="parTrans" cxnId="{F7C5E32E-587D-9848-B4A7-97805BE69D03}">
      <dgm:prSet/>
      <dgm:spPr/>
      <dgm:t>
        <a:bodyPr/>
        <a:lstStyle/>
        <a:p>
          <a:endParaRPr lang="en-GB"/>
        </a:p>
      </dgm:t>
    </dgm:pt>
    <dgm:pt modelId="{9F1F972C-46F9-D340-BCEC-5E023F0E3108}">
      <dgm:prSet phldrT="[Text]" custT="1"/>
      <dgm:spPr>
        <a:solidFill>
          <a:schemeClr val="bg1">
            <a:alpha val="90000"/>
          </a:schemeClr>
        </a:solidFill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GB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Platform Engagement &amp; Employer Retention</a:t>
          </a:r>
        </a:p>
      </dgm:t>
    </dgm:pt>
    <dgm:pt modelId="{2C41640B-E725-0643-A30F-109494229EE8}" type="parTrans" cxnId="{4321EB60-6C41-6443-9D6F-629DD1A52E87}">
      <dgm:prSet/>
      <dgm:spPr/>
      <dgm:t>
        <a:bodyPr/>
        <a:lstStyle/>
        <a:p>
          <a:endParaRPr lang="en-GB"/>
        </a:p>
      </dgm:t>
    </dgm:pt>
    <dgm:pt modelId="{BAC955A1-56EC-F449-8F36-E7DB2D6BAF12}" type="sibTrans" cxnId="{4321EB60-6C41-6443-9D6F-629DD1A52E87}">
      <dgm:prSet/>
      <dgm:spPr/>
      <dgm:t>
        <a:bodyPr/>
        <a:lstStyle/>
        <a:p>
          <a:endParaRPr lang="en-GB"/>
        </a:p>
      </dgm:t>
    </dgm:pt>
    <dgm:pt modelId="{7CB7D376-DD6B-C14D-8B62-CBED88FA07B3}" type="pres">
      <dgm:prSet presAssocID="{0FF9295B-7990-CF42-8A10-E7DDF993CCDA}" presName="Name0" presStyleCnt="0">
        <dgm:presLayoutVars>
          <dgm:dir/>
          <dgm:animLvl val="lvl"/>
          <dgm:resizeHandles val="exact"/>
        </dgm:presLayoutVars>
      </dgm:prSet>
      <dgm:spPr/>
    </dgm:pt>
    <dgm:pt modelId="{0746ADDF-ECE3-D442-9696-0272D2AAD4C0}" type="pres">
      <dgm:prSet presAssocID="{78FE2F71-F519-B843-B8B5-556A8ED3BE67}" presName="composite" presStyleCnt="0"/>
      <dgm:spPr/>
    </dgm:pt>
    <dgm:pt modelId="{F0ABFE00-4EC0-B74E-825C-75EE99728E02}" type="pres">
      <dgm:prSet presAssocID="{78FE2F71-F519-B843-B8B5-556A8ED3BE67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F6FC249F-A75D-2443-9840-244177D63E6B}" type="pres">
      <dgm:prSet presAssocID="{78FE2F71-F519-B843-B8B5-556A8ED3BE67}" presName="desTx" presStyleLbl="alignAccFollowNode1" presStyleIdx="0" presStyleCnt="2">
        <dgm:presLayoutVars>
          <dgm:bulletEnabled val="1"/>
        </dgm:presLayoutVars>
      </dgm:prSet>
      <dgm:spPr/>
    </dgm:pt>
    <dgm:pt modelId="{822490F4-FA34-7E44-B83A-3091F2FB4ED8}" type="pres">
      <dgm:prSet presAssocID="{807B5F63-D9E5-D342-AB8A-8914B053D4C9}" presName="space" presStyleCnt="0"/>
      <dgm:spPr/>
    </dgm:pt>
    <dgm:pt modelId="{ABDA3027-3DA9-F349-81A0-4BA1478DC023}" type="pres">
      <dgm:prSet presAssocID="{CB694599-2BDD-D849-B97B-BACA376027F5}" presName="composite" presStyleCnt="0"/>
      <dgm:spPr/>
    </dgm:pt>
    <dgm:pt modelId="{65BA8741-434A-1245-8DEF-6EFCC0BBF564}" type="pres">
      <dgm:prSet presAssocID="{CB694599-2BDD-D849-B97B-BACA376027F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5098A6D-E14C-984C-861F-1966B8B49796}" type="pres">
      <dgm:prSet presAssocID="{CB694599-2BDD-D849-B97B-BACA376027F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9E17FF12-3BD7-DB46-B780-1B36F9F0F536}" type="presOf" srcId="{0FF9295B-7990-CF42-8A10-E7DDF993CCDA}" destId="{7CB7D376-DD6B-C14D-8B62-CBED88FA07B3}" srcOrd="0" destOrd="0" presId="urn:microsoft.com/office/officeart/2005/8/layout/hList1"/>
    <dgm:cxn modelId="{BA8F2A1D-6849-AB4C-9AC0-3AA7FE6ACFCB}" type="presOf" srcId="{F0A73B27-78B1-334B-B307-862C89B75AB9}" destId="{05098A6D-E14C-984C-861F-1966B8B49796}" srcOrd="0" destOrd="2" presId="urn:microsoft.com/office/officeart/2005/8/layout/hList1"/>
    <dgm:cxn modelId="{F7C5E32E-587D-9848-B4A7-97805BE69D03}" srcId="{CB694599-2BDD-D849-B97B-BACA376027F5}" destId="{CDA906BB-87F9-C046-8E48-1CF819F6C5D2}" srcOrd="3" destOrd="0" parTransId="{C88B0558-2786-6B49-B15A-325FA5025367}" sibTransId="{41BEA058-3D40-624B-8349-23395727D94A}"/>
    <dgm:cxn modelId="{56F78C39-9EEE-C744-993E-D7E838BE4436}" type="presOf" srcId="{78FE2F71-F519-B843-B8B5-556A8ED3BE67}" destId="{F0ABFE00-4EC0-B74E-825C-75EE99728E02}" srcOrd="0" destOrd="0" presId="urn:microsoft.com/office/officeart/2005/8/layout/hList1"/>
    <dgm:cxn modelId="{03AFE44A-213A-A246-B5C2-1084EB1D9FEC}" srcId="{78FE2F71-F519-B843-B8B5-556A8ED3BE67}" destId="{78B7E538-CF00-5C4D-AAD0-DAABA5980146}" srcOrd="1" destOrd="0" parTransId="{E4DAB20F-5C0D-9A45-87C9-EAFAB6FE3C1F}" sibTransId="{1E394FCF-FFCF-AF42-9E13-3D11672A103D}"/>
    <dgm:cxn modelId="{35FA234F-1E86-2C47-9903-11E7A4968F7D}" srcId="{CB694599-2BDD-D849-B97B-BACA376027F5}" destId="{9D625CD5-712A-6341-994E-BC53DB4B1776}" srcOrd="1" destOrd="0" parTransId="{780F9227-CC0C-A04E-94B7-72DE06C92F78}" sibTransId="{89E7B13F-E79C-984A-AB91-8662C73C47E8}"/>
    <dgm:cxn modelId="{4321EB60-6C41-6443-9D6F-629DD1A52E87}" srcId="{78FE2F71-F519-B843-B8B5-556A8ED3BE67}" destId="{9F1F972C-46F9-D340-BCEC-5E023F0E3108}" srcOrd="2" destOrd="0" parTransId="{2C41640B-E725-0643-A30F-109494229EE8}" sibTransId="{BAC955A1-56EC-F449-8F36-E7DB2D6BAF12}"/>
    <dgm:cxn modelId="{1B64CD62-9D96-8546-89C7-3096AB2538A1}" type="presOf" srcId="{9F1F972C-46F9-D340-BCEC-5E023F0E3108}" destId="{F6FC249F-A75D-2443-9840-244177D63E6B}" srcOrd="0" destOrd="2" presId="urn:microsoft.com/office/officeart/2005/8/layout/hList1"/>
    <dgm:cxn modelId="{1CF6D181-45CF-4144-B4C9-A89496419258}" srcId="{0FF9295B-7990-CF42-8A10-E7DDF993CCDA}" destId="{CB694599-2BDD-D849-B97B-BACA376027F5}" srcOrd="1" destOrd="0" parTransId="{74090B00-3FA0-FC41-801A-EACB210973FA}" sibTransId="{3751D751-211B-A041-895D-42AA729AC29C}"/>
    <dgm:cxn modelId="{C3D8CE82-270D-DE45-9C72-FFFC913CA265}" type="presOf" srcId="{F3356B17-62A8-2D49-AC2F-C4006B1F46EB}" destId="{05098A6D-E14C-984C-861F-1966B8B49796}" srcOrd="0" destOrd="0" presId="urn:microsoft.com/office/officeart/2005/8/layout/hList1"/>
    <dgm:cxn modelId="{A3730593-776B-134E-A580-4A9E68FE5BB1}" type="presOf" srcId="{AD8F21BD-BEEA-6E47-BFBE-31BB4894E576}" destId="{F6FC249F-A75D-2443-9840-244177D63E6B}" srcOrd="0" destOrd="0" presId="urn:microsoft.com/office/officeart/2005/8/layout/hList1"/>
    <dgm:cxn modelId="{50FA7DA5-3A9D-4341-8156-631F4C23BFBE}" type="presOf" srcId="{78B7E538-CF00-5C4D-AAD0-DAABA5980146}" destId="{F6FC249F-A75D-2443-9840-244177D63E6B}" srcOrd="0" destOrd="1" presId="urn:microsoft.com/office/officeart/2005/8/layout/hList1"/>
    <dgm:cxn modelId="{9344C5B0-7EC3-B440-83D8-93C1B0A774DC}" type="presOf" srcId="{CB694599-2BDD-D849-B97B-BACA376027F5}" destId="{65BA8741-434A-1245-8DEF-6EFCC0BBF564}" srcOrd="0" destOrd="0" presId="urn:microsoft.com/office/officeart/2005/8/layout/hList1"/>
    <dgm:cxn modelId="{BD95DCB6-32BC-3E43-B47E-8C97247D703E}" type="presOf" srcId="{9D625CD5-712A-6341-994E-BC53DB4B1776}" destId="{05098A6D-E14C-984C-861F-1966B8B49796}" srcOrd="0" destOrd="1" presId="urn:microsoft.com/office/officeart/2005/8/layout/hList1"/>
    <dgm:cxn modelId="{BB6FADC1-8225-1342-9C44-4F5C3F822A22}" srcId="{78FE2F71-F519-B843-B8B5-556A8ED3BE67}" destId="{AD8F21BD-BEEA-6E47-BFBE-31BB4894E576}" srcOrd="0" destOrd="0" parTransId="{C5161AB1-E25D-9E43-B1CC-EC377964E754}" sibTransId="{7DEEE2FB-CF20-5E4A-9F35-8C14D8DB4758}"/>
    <dgm:cxn modelId="{5C9327C9-BFBF-8343-8F59-3D9730376BE9}" srcId="{0FF9295B-7990-CF42-8A10-E7DDF993CCDA}" destId="{78FE2F71-F519-B843-B8B5-556A8ED3BE67}" srcOrd="0" destOrd="0" parTransId="{1E5785D8-5459-0643-A853-B8CB96D3F6DA}" sibTransId="{807B5F63-D9E5-D342-AB8A-8914B053D4C9}"/>
    <dgm:cxn modelId="{BE6A6CF3-2888-F348-93FE-45D36707DF0E}" type="presOf" srcId="{CDA906BB-87F9-C046-8E48-1CF819F6C5D2}" destId="{05098A6D-E14C-984C-861F-1966B8B49796}" srcOrd="0" destOrd="3" presId="urn:microsoft.com/office/officeart/2005/8/layout/hList1"/>
    <dgm:cxn modelId="{1E46E3FA-0E2B-5847-8D42-841A9BCC8C8A}" srcId="{CB694599-2BDD-D849-B97B-BACA376027F5}" destId="{F3356B17-62A8-2D49-AC2F-C4006B1F46EB}" srcOrd="0" destOrd="0" parTransId="{7A325D28-CF92-794C-B860-68A7BB43CD2A}" sibTransId="{1BD69AD5-8B20-F344-8748-04A8F58ED666}"/>
    <dgm:cxn modelId="{756678FC-5E6E-E346-B1AB-E70F7210DB3F}" srcId="{CB694599-2BDD-D849-B97B-BACA376027F5}" destId="{F0A73B27-78B1-334B-B307-862C89B75AB9}" srcOrd="2" destOrd="0" parTransId="{52374AB4-772A-7D4E-B098-781999E2034D}" sibTransId="{1C92C068-027B-8547-9701-3826DB570BD1}"/>
    <dgm:cxn modelId="{9E9B6F38-DE6D-0F44-AC03-2A104127F60E}" type="presParOf" srcId="{7CB7D376-DD6B-C14D-8B62-CBED88FA07B3}" destId="{0746ADDF-ECE3-D442-9696-0272D2AAD4C0}" srcOrd="0" destOrd="0" presId="urn:microsoft.com/office/officeart/2005/8/layout/hList1"/>
    <dgm:cxn modelId="{030BE839-7331-4F4D-9F4C-A4480FF35E0B}" type="presParOf" srcId="{0746ADDF-ECE3-D442-9696-0272D2AAD4C0}" destId="{F0ABFE00-4EC0-B74E-825C-75EE99728E02}" srcOrd="0" destOrd="0" presId="urn:microsoft.com/office/officeart/2005/8/layout/hList1"/>
    <dgm:cxn modelId="{A0CE67C9-2402-6746-AF7C-C0EC89B915C2}" type="presParOf" srcId="{0746ADDF-ECE3-D442-9696-0272D2AAD4C0}" destId="{F6FC249F-A75D-2443-9840-244177D63E6B}" srcOrd="1" destOrd="0" presId="urn:microsoft.com/office/officeart/2005/8/layout/hList1"/>
    <dgm:cxn modelId="{8A49B02E-4C72-E540-A1A0-ED38E49804EA}" type="presParOf" srcId="{7CB7D376-DD6B-C14D-8B62-CBED88FA07B3}" destId="{822490F4-FA34-7E44-B83A-3091F2FB4ED8}" srcOrd="1" destOrd="0" presId="urn:microsoft.com/office/officeart/2005/8/layout/hList1"/>
    <dgm:cxn modelId="{64133433-47DB-4C43-A4DD-73A639B6C823}" type="presParOf" srcId="{7CB7D376-DD6B-C14D-8B62-CBED88FA07B3}" destId="{ABDA3027-3DA9-F349-81A0-4BA1478DC023}" srcOrd="2" destOrd="0" presId="urn:microsoft.com/office/officeart/2005/8/layout/hList1"/>
    <dgm:cxn modelId="{7829762F-E032-C54A-9F4D-A49D7889A1E4}" type="presParOf" srcId="{ABDA3027-3DA9-F349-81A0-4BA1478DC023}" destId="{65BA8741-434A-1245-8DEF-6EFCC0BBF564}" srcOrd="0" destOrd="0" presId="urn:microsoft.com/office/officeart/2005/8/layout/hList1"/>
    <dgm:cxn modelId="{607FF4C6-B389-564F-B810-1A4F222FB6B7}" type="presParOf" srcId="{ABDA3027-3DA9-F349-81A0-4BA1478DC023}" destId="{05098A6D-E14C-984C-861F-1966B8B4979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AEEE55-ACF2-F343-91FE-A072C14842A3}" type="doc">
      <dgm:prSet loTypeId="urn:microsoft.com/office/officeart/2005/8/layout/matrix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DDDF1B9-D9A4-B946-93D7-BF8E5D81572E}">
      <dgm:prSet phldrT="[Text]" custT="1"/>
      <dgm:spPr>
        <a:solidFill>
          <a:srgbClr val="0374B3"/>
        </a:solidFill>
      </dgm:spPr>
      <dgm:t>
        <a:bodyPr/>
        <a:lstStyle/>
        <a:p>
          <a:r>
            <a:rPr lang="en-GB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STRENGTHS</a:t>
          </a:r>
        </a:p>
        <a:p>
          <a:endParaRPr lang="en-GB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IN" sz="1400" b="0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Large employer base, trusted brand, access to job &amp; engagement data.</a:t>
          </a:r>
        </a:p>
      </dgm:t>
    </dgm:pt>
    <dgm:pt modelId="{A631E42B-2293-404B-AF93-D71362A81E9F}" type="parTrans" cxnId="{7EFDA02D-598A-1D46-9E96-9BB271E24397}">
      <dgm:prSet/>
      <dgm:spPr/>
      <dgm:t>
        <a:bodyPr/>
        <a:lstStyle/>
        <a:p>
          <a:endParaRPr lang="en-GB"/>
        </a:p>
      </dgm:t>
    </dgm:pt>
    <dgm:pt modelId="{7607AF0A-B14D-9840-B96A-3309DA73685E}" type="sibTrans" cxnId="{7EFDA02D-598A-1D46-9E96-9BB271E24397}">
      <dgm:prSet/>
      <dgm:spPr/>
      <dgm:t>
        <a:bodyPr/>
        <a:lstStyle/>
        <a:p>
          <a:endParaRPr lang="en-GB"/>
        </a:p>
      </dgm:t>
    </dgm:pt>
    <dgm:pt modelId="{866D598D-0B8C-3B4F-8154-FA23C5202827}">
      <dgm:prSet phldrT="[Text]" custT="1"/>
      <dgm:spPr>
        <a:solidFill>
          <a:srgbClr val="0374B3"/>
        </a:solidFill>
      </dgm:spPr>
      <dgm:t>
        <a:bodyPr/>
        <a:lstStyle/>
        <a:p>
          <a:r>
            <a:rPr lang="en-GB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OPPORTUNITIES</a:t>
          </a:r>
        </a:p>
        <a:p>
          <a:endParaRPr lang="en-GB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GB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 of sales CRM and BI dashboards</a:t>
          </a:r>
        </a:p>
      </dgm:t>
    </dgm:pt>
    <dgm:pt modelId="{D9515B1B-12B1-A34B-AB6D-13F66AC53171}" type="parTrans" cxnId="{D44E121D-845C-264A-AFBC-92E3280E20EC}">
      <dgm:prSet/>
      <dgm:spPr/>
      <dgm:t>
        <a:bodyPr/>
        <a:lstStyle/>
        <a:p>
          <a:endParaRPr lang="en-GB"/>
        </a:p>
      </dgm:t>
    </dgm:pt>
    <dgm:pt modelId="{12B5D1BB-9200-8840-93CE-4F0D920C53FA}" type="sibTrans" cxnId="{D44E121D-845C-264A-AFBC-92E3280E20EC}">
      <dgm:prSet/>
      <dgm:spPr/>
      <dgm:t>
        <a:bodyPr/>
        <a:lstStyle/>
        <a:p>
          <a:endParaRPr lang="en-GB"/>
        </a:p>
      </dgm:t>
    </dgm:pt>
    <dgm:pt modelId="{FE9C8882-FD88-484B-91A8-48EE1DBA6803}">
      <dgm:prSet phldrT="[Text]" custT="1"/>
      <dgm:spPr>
        <a:solidFill>
          <a:srgbClr val="0374B3"/>
        </a:solidFill>
      </dgm:spPr>
      <dgm:t>
        <a:bodyPr/>
        <a:lstStyle/>
        <a:p>
          <a:r>
            <a:rPr lang="en-GB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THREATS</a:t>
          </a:r>
        </a:p>
        <a:p>
          <a:endParaRPr lang="en-GB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GB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Competitors ahead in terms of Analytics, Social-Platform ads, One-Click apply</a:t>
          </a:r>
        </a:p>
      </dgm:t>
    </dgm:pt>
    <dgm:pt modelId="{31138C25-AE5E-7D47-99D4-AF3ADF83A615}" type="parTrans" cxnId="{93B54962-D7E2-904F-B0AA-F5C0DACD3BB6}">
      <dgm:prSet/>
      <dgm:spPr/>
      <dgm:t>
        <a:bodyPr/>
        <a:lstStyle/>
        <a:p>
          <a:endParaRPr lang="en-GB"/>
        </a:p>
      </dgm:t>
    </dgm:pt>
    <dgm:pt modelId="{FCAD3D3C-9CC6-2847-9DB6-1CA1D47C2543}" type="sibTrans" cxnId="{93B54962-D7E2-904F-B0AA-F5C0DACD3BB6}">
      <dgm:prSet/>
      <dgm:spPr/>
      <dgm:t>
        <a:bodyPr/>
        <a:lstStyle/>
        <a:p>
          <a:endParaRPr lang="en-GB"/>
        </a:p>
      </dgm:t>
    </dgm:pt>
    <dgm:pt modelId="{07C3D9E4-C78B-834E-A163-D0A88202F450}">
      <dgm:prSet phldrT="[Text]" custT="1"/>
      <dgm:spPr>
        <a:solidFill>
          <a:srgbClr val="0374B3"/>
        </a:solidFill>
      </dgm:spPr>
      <dgm:t>
        <a:bodyPr/>
        <a:lstStyle/>
        <a:p>
          <a:r>
            <a:rPr lang="en-GB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WEAKNESSES</a:t>
          </a:r>
        </a:p>
        <a:p>
          <a:endParaRPr lang="en-GB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IN" sz="1400" b="0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Poor use of sponsorship, no automation or insights</a:t>
          </a:r>
        </a:p>
      </dgm:t>
    </dgm:pt>
    <dgm:pt modelId="{0A237A9A-14EE-BF4C-8C05-28EE16444A7C}" type="sibTrans" cxnId="{656218CB-3AC4-9F46-B428-C15CAFC47EA6}">
      <dgm:prSet/>
      <dgm:spPr/>
      <dgm:t>
        <a:bodyPr/>
        <a:lstStyle/>
        <a:p>
          <a:endParaRPr lang="en-GB"/>
        </a:p>
      </dgm:t>
    </dgm:pt>
    <dgm:pt modelId="{C3B9FF3E-2382-8340-B7E1-9109C40813AE}" type="parTrans" cxnId="{656218CB-3AC4-9F46-B428-C15CAFC47EA6}">
      <dgm:prSet/>
      <dgm:spPr/>
      <dgm:t>
        <a:bodyPr/>
        <a:lstStyle/>
        <a:p>
          <a:endParaRPr lang="en-GB"/>
        </a:p>
      </dgm:t>
    </dgm:pt>
    <dgm:pt modelId="{3D9A2A40-B371-9347-AD8B-2BBE080424DF}" type="pres">
      <dgm:prSet presAssocID="{83AEEE55-ACF2-F343-91FE-A072C14842A3}" presName="matrix" presStyleCnt="0">
        <dgm:presLayoutVars>
          <dgm:chMax val="1"/>
          <dgm:dir/>
          <dgm:resizeHandles val="exact"/>
        </dgm:presLayoutVars>
      </dgm:prSet>
      <dgm:spPr/>
    </dgm:pt>
    <dgm:pt modelId="{EE3CE5B4-C9D3-F34B-81B5-65F3573AA460}" type="pres">
      <dgm:prSet presAssocID="{83AEEE55-ACF2-F343-91FE-A072C14842A3}" presName="axisShape" presStyleLbl="bgShp" presStyleIdx="0" presStyleCnt="1" custScaleX="173465"/>
      <dgm:spPr/>
    </dgm:pt>
    <dgm:pt modelId="{8813AEC2-8D42-1C44-8004-57F0D7E60861}" type="pres">
      <dgm:prSet presAssocID="{83AEEE55-ACF2-F343-91FE-A072C14842A3}" presName="rect1" presStyleLbl="node1" presStyleIdx="0" presStyleCnt="4" custScaleX="179252" custScaleY="94553" custLinFactNeighborX="-47181" custLinFactNeighborY="-3589">
        <dgm:presLayoutVars>
          <dgm:chMax val="0"/>
          <dgm:chPref val="0"/>
          <dgm:bulletEnabled val="1"/>
        </dgm:presLayoutVars>
      </dgm:prSet>
      <dgm:spPr/>
    </dgm:pt>
    <dgm:pt modelId="{6F37E8D7-2351-2243-88F8-FD4AB292D8EF}" type="pres">
      <dgm:prSet presAssocID="{83AEEE55-ACF2-F343-91FE-A072C14842A3}" presName="rect2" presStyleLbl="node1" presStyleIdx="1" presStyleCnt="4" custScaleX="167286" custScaleY="95193" custLinFactNeighborX="46667" custLinFactNeighborY="-3077">
        <dgm:presLayoutVars>
          <dgm:chMax val="0"/>
          <dgm:chPref val="0"/>
          <dgm:bulletEnabled val="1"/>
        </dgm:presLayoutVars>
      </dgm:prSet>
      <dgm:spPr/>
    </dgm:pt>
    <dgm:pt modelId="{BCB4773E-9C2E-1644-8D03-6A92A94C3E95}" type="pres">
      <dgm:prSet presAssocID="{83AEEE55-ACF2-F343-91FE-A072C14842A3}" presName="rect3" presStyleLbl="node1" presStyleIdx="2" presStyleCnt="4" custScaleX="176645" custScaleY="97115" custLinFactNeighborX="-48718">
        <dgm:presLayoutVars>
          <dgm:chMax val="0"/>
          <dgm:chPref val="0"/>
          <dgm:bulletEnabled val="1"/>
        </dgm:presLayoutVars>
      </dgm:prSet>
      <dgm:spPr/>
    </dgm:pt>
    <dgm:pt modelId="{CFB168CE-687A-CB43-910D-EA32519F6983}" type="pres">
      <dgm:prSet presAssocID="{83AEEE55-ACF2-F343-91FE-A072C14842A3}" presName="rect4" presStyleLbl="node1" presStyleIdx="3" presStyleCnt="4" custScaleX="170705" custLinFactNeighborX="47457" custLinFactNeighborY="513">
        <dgm:presLayoutVars>
          <dgm:chMax val="0"/>
          <dgm:chPref val="0"/>
          <dgm:bulletEnabled val="1"/>
        </dgm:presLayoutVars>
      </dgm:prSet>
      <dgm:spPr/>
    </dgm:pt>
  </dgm:ptLst>
  <dgm:cxnLst>
    <dgm:cxn modelId="{D44E121D-845C-264A-AFBC-92E3280E20EC}" srcId="{83AEEE55-ACF2-F343-91FE-A072C14842A3}" destId="{866D598D-0B8C-3B4F-8154-FA23C5202827}" srcOrd="2" destOrd="0" parTransId="{D9515B1B-12B1-A34B-AB6D-13F66AC53171}" sibTransId="{12B5D1BB-9200-8840-93CE-4F0D920C53FA}"/>
    <dgm:cxn modelId="{7EFDA02D-598A-1D46-9E96-9BB271E24397}" srcId="{83AEEE55-ACF2-F343-91FE-A072C14842A3}" destId="{7DDDF1B9-D9A4-B946-93D7-BF8E5D81572E}" srcOrd="0" destOrd="0" parTransId="{A631E42B-2293-404B-AF93-D71362A81E9F}" sibTransId="{7607AF0A-B14D-9840-B96A-3309DA73685E}"/>
    <dgm:cxn modelId="{14343434-262D-4F4C-A342-C713A27D2B1C}" type="presOf" srcId="{866D598D-0B8C-3B4F-8154-FA23C5202827}" destId="{BCB4773E-9C2E-1644-8D03-6A92A94C3E95}" srcOrd="0" destOrd="0" presId="urn:microsoft.com/office/officeart/2005/8/layout/matrix2"/>
    <dgm:cxn modelId="{D0981537-9B91-CC41-BA79-28F54414239E}" type="presOf" srcId="{FE9C8882-FD88-484B-91A8-48EE1DBA6803}" destId="{CFB168CE-687A-CB43-910D-EA32519F6983}" srcOrd="0" destOrd="0" presId="urn:microsoft.com/office/officeart/2005/8/layout/matrix2"/>
    <dgm:cxn modelId="{93B54962-D7E2-904F-B0AA-F5C0DACD3BB6}" srcId="{83AEEE55-ACF2-F343-91FE-A072C14842A3}" destId="{FE9C8882-FD88-484B-91A8-48EE1DBA6803}" srcOrd="3" destOrd="0" parTransId="{31138C25-AE5E-7D47-99D4-AF3ADF83A615}" sibTransId="{FCAD3D3C-9CC6-2847-9DB6-1CA1D47C2543}"/>
    <dgm:cxn modelId="{C9D796AE-E97A-8B47-B644-1743C4B048F5}" type="presOf" srcId="{07C3D9E4-C78B-834E-A163-D0A88202F450}" destId="{6F37E8D7-2351-2243-88F8-FD4AB292D8EF}" srcOrd="0" destOrd="0" presId="urn:microsoft.com/office/officeart/2005/8/layout/matrix2"/>
    <dgm:cxn modelId="{656218CB-3AC4-9F46-B428-C15CAFC47EA6}" srcId="{83AEEE55-ACF2-F343-91FE-A072C14842A3}" destId="{07C3D9E4-C78B-834E-A163-D0A88202F450}" srcOrd="1" destOrd="0" parTransId="{C3B9FF3E-2382-8340-B7E1-9109C40813AE}" sibTransId="{0A237A9A-14EE-BF4C-8C05-28EE16444A7C}"/>
    <dgm:cxn modelId="{C20DB3EB-F378-C14C-BBEF-B2FBA2AAB38D}" type="presOf" srcId="{7DDDF1B9-D9A4-B946-93D7-BF8E5D81572E}" destId="{8813AEC2-8D42-1C44-8004-57F0D7E60861}" srcOrd="0" destOrd="0" presId="urn:microsoft.com/office/officeart/2005/8/layout/matrix2"/>
    <dgm:cxn modelId="{02A397F9-FAF4-7949-9E37-7A7017B69D27}" type="presOf" srcId="{83AEEE55-ACF2-F343-91FE-A072C14842A3}" destId="{3D9A2A40-B371-9347-AD8B-2BBE080424DF}" srcOrd="0" destOrd="0" presId="urn:microsoft.com/office/officeart/2005/8/layout/matrix2"/>
    <dgm:cxn modelId="{0D284EDF-AD9C-B645-8B37-108EB7DEDA9B}" type="presParOf" srcId="{3D9A2A40-B371-9347-AD8B-2BBE080424DF}" destId="{EE3CE5B4-C9D3-F34B-81B5-65F3573AA460}" srcOrd="0" destOrd="0" presId="urn:microsoft.com/office/officeart/2005/8/layout/matrix2"/>
    <dgm:cxn modelId="{6CE200F2-9127-CB46-882B-07207E0A882C}" type="presParOf" srcId="{3D9A2A40-B371-9347-AD8B-2BBE080424DF}" destId="{8813AEC2-8D42-1C44-8004-57F0D7E60861}" srcOrd="1" destOrd="0" presId="urn:microsoft.com/office/officeart/2005/8/layout/matrix2"/>
    <dgm:cxn modelId="{754B04D2-28AE-374F-931A-52D4A08FEBBD}" type="presParOf" srcId="{3D9A2A40-B371-9347-AD8B-2BBE080424DF}" destId="{6F37E8D7-2351-2243-88F8-FD4AB292D8EF}" srcOrd="2" destOrd="0" presId="urn:microsoft.com/office/officeart/2005/8/layout/matrix2"/>
    <dgm:cxn modelId="{23A16576-1AD3-CB45-8754-60A729BE584C}" type="presParOf" srcId="{3D9A2A40-B371-9347-AD8B-2BBE080424DF}" destId="{BCB4773E-9C2E-1644-8D03-6A92A94C3E95}" srcOrd="3" destOrd="0" presId="urn:microsoft.com/office/officeart/2005/8/layout/matrix2"/>
    <dgm:cxn modelId="{17281110-A154-2142-A760-9500AF94A0B8}" type="presParOf" srcId="{3D9A2A40-B371-9347-AD8B-2BBE080424DF}" destId="{CFB168CE-687A-CB43-910D-EA32519F6983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ECAE67-6E46-8246-BFB0-E118F96D25DF}" type="doc">
      <dgm:prSet loTypeId="urn:microsoft.com/office/officeart/2005/8/layout/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0E1D19A-E4B4-1A4E-B80B-C32254E467D2}">
      <dgm:prSet phldrT="[Text]"/>
      <dgm:spPr>
        <a:solidFill>
          <a:srgbClr val="0374B3"/>
        </a:solidFill>
      </dgm:spPr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Plan</a:t>
          </a:r>
        </a:p>
      </dgm:t>
    </dgm:pt>
    <dgm:pt modelId="{29478C56-52A4-3D4B-836B-29ECFB79A2E1}" type="parTrans" cxnId="{E71831F5-146F-EC4A-B632-A0B7348ED220}">
      <dgm:prSet/>
      <dgm:spPr/>
      <dgm:t>
        <a:bodyPr/>
        <a:lstStyle/>
        <a:p>
          <a:endParaRPr lang="en-GB"/>
        </a:p>
      </dgm:t>
    </dgm:pt>
    <dgm:pt modelId="{5BDC8274-AC7D-5740-83BF-89220E8802DF}" type="sibTrans" cxnId="{E71831F5-146F-EC4A-B632-A0B7348ED220}">
      <dgm:prSet/>
      <dgm:spPr/>
      <dgm:t>
        <a:bodyPr/>
        <a:lstStyle/>
        <a:p>
          <a:endParaRPr lang="en-GB"/>
        </a:p>
      </dgm:t>
    </dgm:pt>
    <dgm:pt modelId="{808DC5CA-AE19-BC45-A07C-1D0828B98332}">
      <dgm:prSet phldrT="[Text]" custT="1"/>
      <dgm:spPr/>
      <dgm:t>
        <a:bodyPr/>
        <a:lstStyle/>
        <a:p>
          <a:r>
            <a:rPr lang="en-GB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RCA- (SWOT)</a:t>
          </a:r>
        </a:p>
      </dgm:t>
    </dgm:pt>
    <dgm:pt modelId="{19304336-032B-9B41-808B-24F45C27C8EF}" type="parTrans" cxnId="{D2CE6317-2A7D-2449-A31A-4A254943D4E2}">
      <dgm:prSet/>
      <dgm:spPr/>
      <dgm:t>
        <a:bodyPr/>
        <a:lstStyle/>
        <a:p>
          <a:endParaRPr lang="en-GB"/>
        </a:p>
      </dgm:t>
    </dgm:pt>
    <dgm:pt modelId="{ED81A4FF-E463-AB4E-8232-57DAFEBB1995}" type="sibTrans" cxnId="{D2CE6317-2A7D-2449-A31A-4A254943D4E2}">
      <dgm:prSet/>
      <dgm:spPr/>
      <dgm:t>
        <a:bodyPr/>
        <a:lstStyle/>
        <a:p>
          <a:endParaRPr lang="en-GB"/>
        </a:p>
      </dgm:t>
    </dgm:pt>
    <dgm:pt modelId="{458BDE23-61D5-6742-8BCB-2C160EC5C3A0}">
      <dgm:prSet phldrT="[Text]"/>
      <dgm:spPr>
        <a:solidFill>
          <a:srgbClr val="0374B3"/>
        </a:solidFill>
      </dgm:spPr>
      <dgm:t>
        <a:bodyPr/>
        <a:lstStyle/>
        <a:p>
          <a:r>
            <a:rPr lang="en-GB" dirty="0"/>
            <a:t>Do</a:t>
          </a:r>
        </a:p>
      </dgm:t>
    </dgm:pt>
    <dgm:pt modelId="{1DB1D8D4-107D-EB4D-9B5C-2EBB9A394FD5}" type="parTrans" cxnId="{DD5EF3E8-4DD3-8E4E-AA41-859D67E329A6}">
      <dgm:prSet/>
      <dgm:spPr/>
      <dgm:t>
        <a:bodyPr/>
        <a:lstStyle/>
        <a:p>
          <a:endParaRPr lang="en-GB"/>
        </a:p>
      </dgm:t>
    </dgm:pt>
    <dgm:pt modelId="{BF221DF4-2920-5842-8859-6374D8A9CECA}" type="sibTrans" cxnId="{DD5EF3E8-4DD3-8E4E-AA41-859D67E329A6}">
      <dgm:prSet/>
      <dgm:spPr/>
      <dgm:t>
        <a:bodyPr/>
        <a:lstStyle/>
        <a:p>
          <a:endParaRPr lang="en-GB"/>
        </a:p>
      </dgm:t>
    </dgm:pt>
    <dgm:pt modelId="{1A8E7A17-EB1E-4947-89D0-995B483FC1B4}">
      <dgm:prSet phldrT="[Text]"/>
      <dgm:spPr/>
      <dgm:t>
        <a:bodyPr/>
        <a:lstStyle/>
        <a:p>
          <a:r>
            <a:rPr lang="en-GB" dirty="0"/>
            <a:t>Salesforce CRM sales</a:t>
          </a:r>
        </a:p>
      </dgm:t>
    </dgm:pt>
    <dgm:pt modelId="{FD456129-55CB-A142-B04B-415748A86AE0}" type="parTrans" cxnId="{1BC339C5-7B55-2347-89BD-B2831FA21D3D}">
      <dgm:prSet/>
      <dgm:spPr/>
      <dgm:t>
        <a:bodyPr/>
        <a:lstStyle/>
        <a:p>
          <a:endParaRPr lang="en-GB"/>
        </a:p>
      </dgm:t>
    </dgm:pt>
    <dgm:pt modelId="{43A86ADD-4BCF-B643-B029-7C372C912CBC}" type="sibTrans" cxnId="{1BC339C5-7B55-2347-89BD-B2831FA21D3D}">
      <dgm:prSet/>
      <dgm:spPr/>
      <dgm:t>
        <a:bodyPr/>
        <a:lstStyle/>
        <a:p>
          <a:endParaRPr lang="en-GB"/>
        </a:p>
      </dgm:t>
    </dgm:pt>
    <dgm:pt modelId="{8F91E53F-4864-3E46-B212-242F834B24CE}">
      <dgm:prSet phldrT="[Text]"/>
      <dgm:spPr>
        <a:solidFill>
          <a:srgbClr val="0374B3"/>
        </a:solidFill>
      </dgm:spPr>
      <dgm:t>
        <a:bodyPr/>
        <a:lstStyle/>
        <a:p>
          <a:r>
            <a:rPr lang="en-GB" dirty="0"/>
            <a:t>Check</a:t>
          </a:r>
        </a:p>
      </dgm:t>
    </dgm:pt>
    <dgm:pt modelId="{22151B1B-2E32-3243-9490-D29DC37B54BD}" type="parTrans" cxnId="{AFB5F8AE-866D-A14A-83A3-1A550D4DC7AE}">
      <dgm:prSet/>
      <dgm:spPr/>
      <dgm:t>
        <a:bodyPr/>
        <a:lstStyle/>
        <a:p>
          <a:endParaRPr lang="en-GB"/>
        </a:p>
      </dgm:t>
    </dgm:pt>
    <dgm:pt modelId="{B35C8984-993F-7546-A9B8-83F961D6627B}" type="sibTrans" cxnId="{AFB5F8AE-866D-A14A-83A3-1A550D4DC7AE}">
      <dgm:prSet/>
      <dgm:spPr/>
      <dgm:t>
        <a:bodyPr/>
        <a:lstStyle/>
        <a:p>
          <a:endParaRPr lang="en-GB"/>
        </a:p>
      </dgm:t>
    </dgm:pt>
    <dgm:pt modelId="{3EABC85A-E66B-3845-BF92-0981EC3CF60E}">
      <dgm:prSet phldrT="[Text]"/>
      <dgm:spPr/>
      <dgm:t>
        <a:bodyPr/>
        <a:lstStyle/>
        <a:p>
          <a:r>
            <a:rPr lang="en-GB" dirty="0"/>
            <a:t>Monitor Views, Job Conversion Ratio, Employer activity</a:t>
          </a:r>
        </a:p>
      </dgm:t>
    </dgm:pt>
    <dgm:pt modelId="{4471BFC0-4B16-604A-85B9-A2D69E9BB892}" type="parTrans" cxnId="{2C4087E2-89EF-DB44-92A0-A9E7353879DE}">
      <dgm:prSet/>
      <dgm:spPr/>
      <dgm:t>
        <a:bodyPr/>
        <a:lstStyle/>
        <a:p>
          <a:endParaRPr lang="en-GB"/>
        </a:p>
      </dgm:t>
    </dgm:pt>
    <dgm:pt modelId="{F20405C9-87EB-C945-A7A1-7B5EE570A2C8}" type="sibTrans" cxnId="{2C4087E2-89EF-DB44-92A0-A9E7353879DE}">
      <dgm:prSet/>
      <dgm:spPr/>
      <dgm:t>
        <a:bodyPr/>
        <a:lstStyle/>
        <a:p>
          <a:endParaRPr lang="en-GB"/>
        </a:p>
      </dgm:t>
    </dgm:pt>
    <dgm:pt modelId="{D6594E3B-AF51-454F-9899-5E95CB791A4D}">
      <dgm:prSet phldrT="[Text]"/>
      <dgm:spPr>
        <a:solidFill>
          <a:srgbClr val="0374B3"/>
        </a:solidFill>
      </dgm:spPr>
      <dgm:t>
        <a:bodyPr/>
        <a:lstStyle/>
        <a:p>
          <a:r>
            <a:rPr lang="en-GB" dirty="0"/>
            <a:t>Act</a:t>
          </a:r>
        </a:p>
      </dgm:t>
    </dgm:pt>
    <dgm:pt modelId="{92462416-C6F6-4540-BE03-BB85948D6667}" type="parTrans" cxnId="{74AFB3B7-1EFC-4743-AC20-5DCBC822B29C}">
      <dgm:prSet/>
      <dgm:spPr/>
      <dgm:t>
        <a:bodyPr/>
        <a:lstStyle/>
        <a:p>
          <a:endParaRPr lang="en-GB"/>
        </a:p>
      </dgm:t>
    </dgm:pt>
    <dgm:pt modelId="{152AC147-2C2D-CF45-87A7-2E6448C392A9}" type="sibTrans" cxnId="{74AFB3B7-1EFC-4743-AC20-5DCBC822B29C}">
      <dgm:prSet/>
      <dgm:spPr/>
      <dgm:t>
        <a:bodyPr/>
        <a:lstStyle/>
        <a:p>
          <a:endParaRPr lang="en-GB"/>
        </a:p>
      </dgm:t>
    </dgm:pt>
    <dgm:pt modelId="{87DB02B6-9BCF-4D45-8982-9489449471EE}">
      <dgm:prSet phldrT="[Text]" custT="1"/>
      <dgm:spPr/>
      <dgm:t>
        <a:bodyPr/>
        <a:lstStyle/>
        <a:p>
          <a:r>
            <a:rPr lang="en-GB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CRM Objectives</a:t>
          </a:r>
        </a:p>
      </dgm:t>
    </dgm:pt>
    <dgm:pt modelId="{F920EF9B-862F-8B4F-9FC0-54EB0904A971}" type="parTrans" cxnId="{77CC5155-57C8-F54A-8200-BEF6916FAF42}">
      <dgm:prSet/>
      <dgm:spPr/>
      <dgm:t>
        <a:bodyPr/>
        <a:lstStyle/>
        <a:p>
          <a:endParaRPr lang="en-GB"/>
        </a:p>
      </dgm:t>
    </dgm:pt>
    <dgm:pt modelId="{B82EC899-230E-DD47-920B-6AF9B3E2F3A9}" type="sibTrans" cxnId="{77CC5155-57C8-F54A-8200-BEF6916FAF42}">
      <dgm:prSet/>
      <dgm:spPr/>
      <dgm:t>
        <a:bodyPr/>
        <a:lstStyle/>
        <a:p>
          <a:endParaRPr lang="en-GB"/>
        </a:p>
      </dgm:t>
    </dgm:pt>
    <dgm:pt modelId="{6BF30422-DFE3-B943-A65A-B856869DFE86}">
      <dgm:prSet phldrT="[Text]" custT="1"/>
      <dgm:spPr/>
      <dgm:t>
        <a:bodyPr/>
        <a:lstStyle/>
        <a:p>
          <a:r>
            <a:rPr lang="en-GB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KPIs benchmarking</a:t>
          </a:r>
        </a:p>
      </dgm:t>
    </dgm:pt>
    <dgm:pt modelId="{177197B1-F2D3-B64B-903C-C91AD46CB4B9}" type="parTrans" cxnId="{9155A575-A1B5-AD4B-8666-2149CD64E6C7}">
      <dgm:prSet/>
      <dgm:spPr/>
      <dgm:t>
        <a:bodyPr/>
        <a:lstStyle/>
        <a:p>
          <a:endParaRPr lang="en-GB"/>
        </a:p>
      </dgm:t>
    </dgm:pt>
    <dgm:pt modelId="{9E183BEF-D6DD-7B47-B3D5-716D9C53F4F0}" type="sibTrans" cxnId="{9155A575-A1B5-AD4B-8666-2149CD64E6C7}">
      <dgm:prSet/>
      <dgm:spPr/>
      <dgm:t>
        <a:bodyPr/>
        <a:lstStyle/>
        <a:p>
          <a:endParaRPr lang="en-GB"/>
        </a:p>
      </dgm:t>
    </dgm:pt>
    <dgm:pt modelId="{C7FEA918-8FB6-E145-8141-C6CCA9434EA9}">
      <dgm:prSet phldrT="[Text]"/>
      <dgm:spPr/>
      <dgm:t>
        <a:bodyPr/>
        <a:lstStyle/>
        <a:p>
          <a:r>
            <a:rPr lang="en-GB" dirty="0"/>
            <a:t>Tableau BI dashboard</a:t>
          </a:r>
        </a:p>
      </dgm:t>
    </dgm:pt>
    <dgm:pt modelId="{B95E720A-60DB-2945-A33F-702AFE3FEC3D}" type="parTrans" cxnId="{C0727FCB-2964-B34A-AD6C-D571F7131AC7}">
      <dgm:prSet/>
      <dgm:spPr/>
      <dgm:t>
        <a:bodyPr/>
        <a:lstStyle/>
        <a:p>
          <a:endParaRPr lang="en-GB"/>
        </a:p>
      </dgm:t>
    </dgm:pt>
    <dgm:pt modelId="{6E35DB8A-B884-1E4D-BB88-0B8196A56ECB}" type="sibTrans" cxnId="{C0727FCB-2964-B34A-AD6C-D571F7131AC7}">
      <dgm:prSet/>
      <dgm:spPr/>
      <dgm:t>
        <a:bodyPr/>
        <a:lstStyle/>
        <a:p>
          <a:endParaRPr lang="en-GB"/>
        </a:p>
      </dgm:t>
    </dgm:pt>
    <dgm:pt modelId="{55B75CA5-8FC4-F24A-B5CE-2CDFE0A5F4D5}">
      <dgm:prSet/>
      <dgm:spPr/>
      <dgm:t>
        <a:bodyPr/>
        <a:lstStyle/>
        <a:p>
          <a:r>
            <a:rPr lang="en-GB" dirty="0"/>
            <a:t>Adjust KPIs</a:t>
          </a:r>
        </a:p>
      </dgm:t>
    </dgm:pt>
    <dgm:pt modelId="{7D2D7AC9-021B-8941-B9BD-3F9C9F4FCB79}" type="parTrans" cxnId="{A3A2B7E3-7F8D-AA47-9422-10420F3E5B1E}">
      <dgm:prSet/>
      <dgm:spPr/>
      <dgm:t>
        <a:bodyPr/>
        <a:lstStyle/>
        <a:p>
          <a:endParaRPr lang="en-GB"/>
        </a:p>
      </dgm:t>
    </dgm:pt>
    <dgm:pt modelId="{8049071A-25E2-C94D-9D73-910C8F36AFC8}" type="sibTrans" cxnId="{A3A2B7E3-7F8D-AA47-9422-10420F3E5B1E}">
      <dgm:prSet/>
      <dgm:spPr/>
      <dgm:t>
        <a:bodyPr/>
        <a:lstStyle/>
        <a:p>
          <a:endParaRPr lang="en-GB"/>
        </a:p>
      </dgm:t>
    </dgm:pt>
    <dgm:pt modelId="{33232FF6-3C05-1849-945C-75A0B3197ADA}">
      <dgm:prSet/>
      <dgm:spPr/>
      <dgm:t>
        <a:bodyPr/>
        <a:lstStyle/>
        <a:p>
          <a:r>
            <a:rPr lang="en-GB" dirty="0"/>
            <a:t>Tweak Sponsorship strategy</a:t>
          </a:r>
        </a:p>
      </dgm:t>
    </dgm:pt>
    <dgm:pt modelId="{56AE9D41-536B-4A4E-8801-E9A8FD661BA4}" type="parTrans" cxnId="{10B20736-6126-2845-A08F-CEA98F824C98}">
      <dgm:prSet/>
      <dgm:spPr/>
      <dgm:t>
        <a:bodyPr/>
        <a:lstStyle/>
        <a:p>
          <a:endParaRPr lang="en-GB"/>
        </a:p>
      </dgm:t>
    </dgm:pt>
    <dgm:pt modelId="{46A769F0-6D70-4148-B624-DD024C718EE5}" type="sibTrans" cxnId="{10B20736-6126-2845-A08F-CEA98F824C98}">
      <dgm:prSet/>
      <dgm:spPr/>
      <dgm:t>
        <a:bodyPr/>
        <a:lstStyle/>
        <a:p>
          <a:endParaRPr lang="en-GB"/>
        </a:p>
      </dgm:t>
    </dgm:pt>
    <dgm:pt modelId="{BDA4EF14-FF9E-2C4D-B3C7-ED4F109D96E6}" type="pres">
      <dgm:prSet presAssocID="{31ECAE67-6E46-8246-BFB0-E118F96D25DF}" presName="linearFlow" presStyleCnt="0">
        <dgm:presLayoutVars>
          <dgm:dir/>
          <dgm:animLvl val="lvl"/>
          <dgm:resizeHandles val="exact"/>
        </dgm:presLayoutVars>
      </dgm:prSet>
      <dgm:spPr/>
    </dgm:pt>
    <dgm:pt modelId="{9E8ACB31-B196-3745-A128-7EE7876776E6}" type="pres">
      <dgm:prSet presAssocID="{30E1D19A-E4B4-1A4E-B80B-C32254E467D2}" presName="composite" presStyleCnt="0"/>
      <dgm:spPr/>
    </dgm:pt>
    <dgm:pt modelId="{96E5F8D1-B5C2-1545-A87D-7C3BB7FA52B6}" type="pres">
      <dgm:prSet presAssocID="{30E1D19A-E4B4-1A4E-B80B-C32254E467D2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52F186B-491D-AE40-94E6-E3C01D1631D3}" type="pres">
      <dgm:prSet presAssocID="{30E1D19A-E4B4-1A4E-B80B-C32254E467D2}" presName="parSh" presStyleLbl="node1" presStyleIdx="0" presStyleCnt="4"/>
      <dgm:spPr/>
    </dgm:pt>
    <dgm:pt modelId="{A61CABDF-62E4-424C-BE4D-5625A211886D}" type="pres">
      <dgm:prSet presAssocID="{30E1D19A-E4B4-1A4E-B80B-C32254E467D2}" presName="desTx" presStyleLbl="fgAcc1" presStyleIdx="0" presStyleCnt="4" custScaleY="78292">
        <dgm:presLayoutVars>
          <dgm:bulletEnabled val="1"/>
        </dgm:presLayoutVars>
      </dgm:prSet>
      <dgm:spPr/>
    </dgm:pt>
    <dgm:pt modelId="{4C40F5F1-4D3B-8340-B3A2-9F0EE335A904}" type="pres">
      <dgm:prSet presAssocID="{5BDC8274-AC7D-5740-83BF-89220E8802DF}" presName="sibTrans" presStyleLbl="sibTrans2D1" presStyleIdx="0" presStyleCnt="3"/>
      <dgm:spPr/>
    </dgm:pt>
    <dgm:pt modelId="{118C8292-E0C2-AD49-BC0A-B0048788766E}" type="pres">
      <dgm:prSet presAssocID="{5BDC8274-AC7D-5740-83BF-89220E8802DF}" presName="connTx" presStyleLbl="sibTrans2D1" presStyleIdx="0" presStyleCnt="3"/>
      <dgm:spPr/>
    </dgm:pt>
    <dgm:pt modelId="{69864152-9EF5-2E48-A7E2-6A31280510AE}" type="pres">
      <dgm:prSet presAssocID="{458BDE23-61D5-6742-8BCB-2C160EC5C3A0}" presName="composite" presStyleCnt="0"/>
      <dgm:spPr/>
    </dgm:pt>
    <dgm:pt modelId="{C2610BC2-C9CF-5D44-8BD2-297DB1BE2ADB}" type="pres">
      <dgm:prSet presAssocID="{458BDE23-61D5-6742-8BCB-2C160EC5C3A0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CE3FD01-90BE-6C4B-ABC8-0E3635A91955}" type="pres">
      <dgm:prSet presAssocID="{458BDE23-61D5-6742-8BCB-2C160EC5C3A0}" presName="parSh" presStyleLbl="node1" presStyleIdx="1" presStyleCnt="4"/>
      <dgm:spPr/>
    </dgm:pt>
    <dgm:pt modelId="{6849D2E4-4D5B-6D4B-8E8B-BB65E59ACE49}" type="pres">
      <dgm:prSet presAssocID="{458BDE23-61D5-6742-8BCB-2C160EC5C3A0}" presName="desTx" presStyleLbl="fgAcc1" presStyleIdx="1" presStyleCnt="4" custScaleY="79422">
        <dgm:presLayoutVars>
          <dgm:bulletEnabled val="1"/>
        </dgm:presLayoutVars>
      </dgm:prSet>
      <dgm:spPr/>
    </dgm:pt>
    <dgm:pt modelId="{C14F0D55-D36A-6644-BD64-CD3059FE97A5}" type="pres">
      <dgm:prSet presAssocID="{BF221DF4-2920-5842-8859-6374D8A9CECA}" presName="sibTrans" presStyleLbl="sibTrans2D1" presStyleIdx="1" presStyleCnt="3"/>
      <dgm:spPr/>
    </dgm:pt>
    <dgm:pt modelId="{B45A2225-F36C-3140-84ED-D502BF8BDFFC}" type="pres">
      <dgm:prSet presAssocID="{BF221DF4-2920-5842-8859-6374D8A9CECA}" presName="connTx" presStyleLbl="sibTrans2D1" presStyleIdx="1" presStyleCnt="3"/>
      <dgm:spPr/>
    </dgm:pt>
    <dgm:pt modelId="{36B6B139-F921-A942-A784-620547016D17}" type="pres">
      <dgm:prSet presAssocID="{8F91E53F-4864-3E46-B212-242F834B24CE}" presName="composite" presStyleCnt="0"/>
      <dgm:spPr/>
    </dgm:pt>
    <dgm:pt modelId="{E75A9180-B1D0-EE40-AB5B-7F3BC7D3341E}" type="pres">
      <dgm:prSet presAssocID="{8F91E53F-4864-3E46-B212-242F834B24CE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6BB9C8B-702B-2541-B6CC-00FF0C7936E1}" type="pres">
      <dgm:prSet presAssocID="{8F91E53F-4864-3E46-B212-242F834B24CE}" presName="parSh" presStyleLbl="node1" presStyleIdx="2" presStyleCnt="4"/>
      <dgm:spPr/>
    </dgm:pt>
    <dgm:pt modelId="{315E1F30-F55E-5845-9D70-8B84A98E2AF7}" type="pres">
      <dgm:prSet presAssocID="{8F91E53F-4864-3E46-B212-242F834B24CE}" presName="desTx" presStyleLbl="fgAcc1" presStyleIdx="2" presStyleCnt="4" custScaleY="78866">
        <dgm:presLayoutVars>
          <dgm:bulletEnabled val="1"/>
        </dgm:presLayoutVars>
      </dgm:prSet>
      <dgm:spPr/>
    </dgm:pt>
    <dgm:pt modelId="{677C9E00-0FE4-D64E-874E-450218EA1498}" type="pres">
      <dgm:prSet presAssocID="{B35C8984-993F-7546-A9B8-83F961D6627B}" presName="sibTrans" presStyleLbl="sibTrans2D1" presStyleIdx="2" presStyleCnt="3"/>
      <dgm:spPr/>
    </dgm:pt>
    <dgm:pt modelId="{F26EAEA7-2F58-2849-96BA-A14AAB5A48CA}" type="pres">
      <dgm:prSet presAssocID="{B35C8984-993F-7546-A9B8-83F961D6627B}" presName="connTx" presStyleLbl="sibTrans2D1" presStyleIdx="2" presStyleCnt="3"/>
      <dgm:spPr/>
    </dgm:pt>
    <dgm:pt modelId="{441BE6E5-674B-F947-801B-6917D0C15062}" type="pres">
      <dgm:prSet presAssocID="{D6594E3B-AF51-454F-9899-5E95CB791A4D}" presName="composite" presStyleCnt="0"/>
      <dgm:spPr/>
    </dgm:pt>
    <dgm:pt modelId="{0B746D8C-69EE-B248-B617-F1CA99E43709}" type="pres">
      <dgm:prSet presAssocID="{D6594E3B-AF51-454F-9899-5E95CB791A4D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ECBB79A-CEBE-BC4B-B1B5-74B257B04B90}" type="pres">
      <dgm:prSet presAssocID="{D6594E3B-AF51-454F-9899-5E95CB791A4D}" presName="parSh" presStyleLbl="node1" presStyleIdx="3" presStyleCnt="4"/>
      <dgm:spPr/>
    </dgm:pt>
    <dgm:pt modelId="{BCAA5B85-1B82-4444-AB07-6B3D960387E2}" type="pres">
      <dgm:prSet presAssocID="{D6594E3B-AF51-454F-9899-5E95CB791A4D}" presName="desTx" presStyleLbl="fgAcc1" presStyleIdx="3" presStyleCnt="4" custScaleY="78866">
        <dgm:presLayoutVars>
          <dgm:bulletEnabled val="1"/>
        </dgm:presLayoutVars>
      </dgm:prSet>
      <dgm:spPr/>
    </dgm:pt>
  </dgm:ptLst>
  <dgm:cxnLst>
    <dgm:cxn modelId="{4ABA880E-118C-184C-9BF7-FDEE2E3C3185}" type="presOf" srcId="{55B75CA5-8FC4-F24A-B5CE-2CDFE0A5F4D5}" destId="{BCAA5B85-1B82-4444-AB07-6B3D960387E2}" srcOrd="0" destOrd="0" presId="urn:microsoft.com/office/officeart/2005/8/layout/process3"/>
    <dgm:cxn modelId="{D2CE6317-2A7D-2449-A31A-4A254943D4E2}" srcId="{30E1D19A-E4B4-1A4E-B80B-C32254E467D2}" destId="{808DC5CA-AE19-BC45-A07C-1D0828B98332}" srcOrd="0" destOrd="0" parTransId="{19304336-032B-9B41-808B-24F45C27C8EF}" sibTransId="{ED81A4FF-E463-AB4E-8232-57DAFEBB1995}"/>
    <dgm:cxn modelId="{203DC31F-3068-2F43-B23F-20F4F4382D9A}" type="presOf" srcId="{3EABC85A-E66B-3845-BF92-0981EC3CF60E}" destId="{315E1F30-F55E-5845-9D70-8B84A98E2AF7}" srcOrd="0" destOrd="0" presId="urn:microsoft.com/office/officeart/2005/8/layout/process3"/>
    <dgm:cxn modelId="{6B45E72D-B96E-BE4C-832C-0F06A34FE04B}" type="presOf" srcId="{458BDE23-61D5-6742-8BCB-2C160EC5C3A0}" destId="{ACE3FD01-90BE-6C4B-ABC8-0E3635A91955}" srcOrd="1" destOrd="0" presId="urn:microsoft.com/office/officeart/2005/8/layout/process3"/>
    <dgm:cxn modelId="{6B21D12E-71E1-FE42-BA1B-FA423DC29CD6}" type="presOf" srcId="{BF221DF4-2920-5842-8859-6374D8A9CECA}" destId="{C14F0D55-D36A-6644-BD64-CD3059FE97A5}" srcOrd="0" destOrd="0" presId="urn:microsoft.com/office/officeart/2005/8/layout/process3"/>
    <dgm:cxn modelId="{B95DC433-9E45-574C-90DD-4C581FA7C73D}" type="presOf" srcId="{BF221DF4-2920-5842-8859-6374D8A9CECA}" destId="{B45A2225-F36C-3140-84ED-D502BF8BDFFC}" srcOrd="1" destOrd="0" presId="urn:microsoft.com/office/officeart/2005/8/layout/process3"/>
    <dgm:cxn modelId="{1444CC33-F010-1842-ABAB-6ABAFA395F97}" type="presOf" srcId="{33232FF6-3C05-1849-945C-75A0B3197ADA}" destId="{BCAA5B85-1B82-4444-AB07-6B3D960387E2}" srcOrd="0" destOrd="1" presId="urn:microsoft.com/office/officeart/2005/8/layout/process3"/>
    <dgm:cxn modelId="{10B20736-6126-2845-A08F-CEA98F824C98}" srcId="{D6594E3B-AF51-454F-9899-5E95CB791A4D}" destId="{33232FF6-3C05-1849-945C-75A0B3197ADA}" srcOrd="1" destOrd="0" parTransId="{56AE9D41-536B-4A4E-8801-E9A8FD661BA4}" sibTransId="{46A769F0-6D70-4148-B624-DD024C718EE5}"/>
    <dgm:cxn modelId="{77CC5155-57C8-F54A-8200-BEF6916FAF42}" srcId="{30E1D19A-E4B4-1A4E-B80B-C32254E467D2}" destId="{87DB02B6-9BCF-4D45-8982-9489449471EE}" srcOrd="1" destOrd="0" parTransId="{F920EF9B-862F-8B4F-9FC0-54EB0904A971}" sibTransId="{B82EC899-230E-DD47-920B-6AF9B3E2F3A9}"/>
    <dgm:cxn modelId="{9155A575-A1B5-AD4B-8666-2149CD64E6C7}" srcId="{30E1D19A-E4B4-1A4E-B80B-C32254E467D2}" destId="{6BF30422-DFE3-B943-A65A-B856869DFE86}" srcOrd="2" destOrd="0" parTransId="{177197B1-F2D3-B64B-903C-C91AD46CB4B9}" sibTransId="{9E183BEF-D6DD-7B47-B3D5-716D9C53F4F0}"/>
    <dgm:cxn modelId="{7BE9E976-A200-C141-8E8E-30D9A2250DC4}" type="presOf" srcId="{30E1D19A-E4B4-1A4E-B80B-C32254E467D2}" destId="{952F186B-491D-AE40-94E6-E3C01D1631D3}" srcOrd="1" destOrd="0" presId="urn:microsoft.com/office/officeart/2005/8/layout/process3"/>
    <dgm:cxn modelId="{669D1182-90F8-C740-94E2-980C2048D473}" type="presOf" srcId="{31ECAE67-6E46-8246-BFB0-E118F96D25DF}" destId="{BDA4EF14-FF9E-2C4D-B3C7-ED4F109D96E6}" srcOrd="0" destOrd="0" presId="urn:microsoft.com/office/officeart/2005/8/layout/process3"/>
    <dgm:cxn modelId="{3C203588-3A3A-C249-BA0C-B53A39633DA9}" type="presOf" srcId="{C7FEA918-8FB6-E145-8141-C6CCA9434EA9}" destId="{6849D2E4-4D5B-6D4B-8E8B-BB65E59ACE49}" srcOrd="0" destOrd="1" presId="urn:microsoft.com/office/officeart/2005/8/layout/process3"/>
    <dgm:cxn modelId="{2F788BA0-343E-F542-B8EC-98709192CC26}" type="presOf" srcId="{1A8E7A17-EB1E-4947-89D0-995B483FC1B4}" destId="{6849D2E4-4D5B-6D4B-8E8B-BB65E59ACE49}" srcOrd="0" destOrd="0" presId="urn:microsoft.com/office/officeart/2005/8/layout/process3"/>
    <dgm:cxn modelId="{5C594DA8-4AD0-2646-8026-FB0136B59D5C}" type="presOf" srcId="{5BDC8274-AC7D-5740-83BF-89220E8802DF}" destId="{4C40F5F1-4D3B-8340-B3A2-9F0EE335A904}" srcOrd="0" destOrd="0" presId="urn:microsoft.com/office/officeart/2005/8/layout/process3"/>
    <dgm:cxn modelId="{AFB5F8AE-866D-A14A-83A3-1A550D4DC7AE}" srcId="{31ECAE67-6E46-8246-BFB0-E118F96D25DF}" destId="{8F91E53F-4864-3E46-B212-242F834B24CE}" srcOrd="2" destOrd="0" parTransId="{22151B1B-2E32-3243-9490-D29DC37B54BD}" sibTransId="{B35C8984-993F-7546-A9B8-83F961D6627B}"/>
    <dgm:cxn modelId="{74AFB3B7-1EFC-4743-AC20-5DCBC822B29C}" srcId="{31ECAE67-6E46-8246-BFB0-E118F96D25DF}" destId="{D6594E3B-AF51-454F-9899-5E95CB791A4D}" srcOrd="3" destOrd="0" parTransId="{92462416-C6F6-4540-BE03-BB85948D6667}" sibTransId="{152AC147-2C2D-CF45-87A7-2E6448C392A9}"/>
    <dgm:cxn modelId="{E21167BD-EA7C-C34F-A6E0-860B09BB1E17}" type="presOf" srcId="{458BDE23-61D5-6742-8BCB-2C160EC5C3A0}" destId="{C2610BC2-C9CF-5D44-8BD2-297DB1BE2ADB}" srcOrd="0" destOrd="0" presId="urn:microsoft.com/office/officeart/2005/8/layout/process3"/>
    <dgm:cxn modelId="{1BA514BE-BA45-0D4D-952A-1F8BF8A051F9}" type="presOf" srcId="{B35C8984-993F-7546-A9B8-83F961D6627B}" destId="{677C9E00-0FE4-D64E-874E-450218EA1498}" srcOrd="0" destOrd="0" presId="urn:microsoft.com/office/officeart/2005/8/layout/process3"/>
    <dgm:cxn modelId="{1BC339C5-7B55-2347-89BD-B2831FA21D3D}" srcId="{458BDE23-61D5-6742-8BCB-2C160EC5C3A0}" destId="{1A8E7A17-EB1E-4947-89D0-995B483FC1B4}" srcOrd="0" destOrd="0" parTransId="{FD456129-55CB-A142-B04B-415748A86AE0}" sibTransId="{43A86ADD-4BCF-B643-B029-7C372C912CBC}"/>
    <dgm:cxn modelId="{C0727FCB-2964-B34A-AD6C-D571F7131AC7}" srcId="{458BDE23-61D5-6742-8BCB-2C160EC5C3A0}" destId="{C7FEA918-8FB6-E145-8141-C6CCA9434EA9}" srcOrd="1" destOrd="0" parTransId="{B95E720A-60DB-2945-A33F-702AFE3FEC3D}" sibTransId="{6E35DB8A-B884-1E4D-BB88-0B8196A56ECB}"/>
    <dgm:cxn modelId="{39F1E7D4-27E2-2746-9ABA-A2A4CD8D76DE}" type="presOf" srcId="{D6594E3B-AF51-454F-9899-5E95CB791A4D}" destId="{0B746D8C-69EE-B248-B617-F1CA99E43709}" srcOrd="0" destOrd="0" presId="urn:microsoft.com/office/officeart/2005/8/layout/process3"/>
    <dgm:cxn modelId="{0F8A19D9-1819-DA47-88F6-2FA6EEE07C3C}" type="presOf" srcId="{5BDC8274-AC7D-5740-83BF-89220E8802DF}" destId="{118C8292-E0C2-AD49-BC0A-B0048788766E}" srcOrd="1" destOrd="0" presId="urn:microsoft.com/office/officeart/2005/8/layout/process3"/>
    <dgm:cxn modelId="{95E302DD-84E1-B749-B6C5-CF3F975890E3}" type="presOf" srcId="{8F91E53F-4864-3E46-B212-242F834B24CE}" destId="{E75A9180-B1D0-EE40-AB5B-7F3BC7D3341E}" srcOrd="0" destOrd="0" presId="urn:microsoft.com/office/officeart/2005/8/layout/process3"/>
    <dgm:cxn modelId="{2C4087E2-89EF-DB44-92A0-A9E7353879DE}" srcId="{8F91E53F-4864-3E46-B212-242F834B24CE}" destId="{3EABC85A-E66B-3845-BF92-0981EC3CF60E}" srcOrd="0" destOrd="0" parTransId="{4471BFC0-4B16-604A-85B9-A2D69E9BB892}" sibTransId="{F20405C9-87EB-C945-A7A1-7B5EE570A2C8}"/>
    <dgm:cxn modelId="{A3A2B7E3-7F8D-AA47-9422-10420F3E5B1E}" srcId="{D6594E3B-AF51-454F-9899-5E95CB791A4D}" destId="{55B75CA5-8FC4-F24A-B5CE-2CDFE0A5F4D5}" srcOrd="0" destOrd="0" parTransId="{7D2D7AC9-021B-8941-B9BD-3F9C9F4FCB79}" sibTransId="{8049071A-25E2-C94D-9D73-910C8F36AFC8}"/>
    <dgm:cxn modelId="{DD5EF3E8-4DD3-8E4E-AA41-859D67E329A6}" srcId="{31ECAE67-6E46-8246-BFB0-E118F96D25DF}" destId="{458BDE23-61D5-6742-8BCB-2C160EC5C3A0}" srcOrd="1" destOrd="0" parTransId="{1DB1D8D4-107D-EB4D-9B5C-2EBB9A394FD5}" sibTransId="{BF221DF4-2920-5842-8859-6374D8A9CECA}"/>
    <dgm:cxn modelId="{7723E5ED-23CA-6F45-9B7D-CADF1DD61114}" type="presOf" srcId="{B35C8984-993F-7546-A9B8-83F961D6627B}" destId="{F26EAEA7-2F58-2849-96BA-A14AAB5A48CA}" srcOrd="1" destOrd="0" presId="urn:microsoft.com/office/officeart/2005/8/layout/process3"/>
    <dgm:cxn modelId="{2F575AEE-653A-8F45-B472-7BD88F80551C}" type="presOf" srcId="{D6594E3B-AF51-454F-9899-5E95CB791A4D}" destId="{EECBB79A-CEBE-BC4B-B1B5-74B257B04B90}" srcOrd="1" destOrd="0" presId="urn:microsoft.com/office/officeart/2005/8/layout/process3"/>
    <dgm:cxn modelId="{DC8183EE-93CE-5A44-B9F3-AB19D58ABF87}" type="presOf" srcId="{30E1D19A-E4B4-1A4E-B80B-C32254E467D2}" destId="{96E5F8D1-B5C2-1545-A87D-7C3BB7FA52B6}" srcOrd="0" destOrd="0" presId="urn:microsoft.com/office/officeart/2005/8/layout/process3"/>
    <dgm:cxn modelId="{A49743F0-838B-9744-80B9-6A3DFF1B86B8}" type="presOf" srcId="{8F91E53F-4864-3E46-B212-242F834B24CE}" destId="{96BB9C8B-702B-2541-B6CC-00FF0C7936E1}" srcOrd="1" destOrd="0" presId="urn:microsoft.com/office/officeart/2005/8/layout/process3"/>
    <dgm:cxn modelId="{48CCDFF2-6160-394B-8DEC-A743BA6B16D1}" type="presOf" srcId="{87DB02B6-9BCF-4D45-8982-9489449471EE}" destId="{A61CABDF-62E4-424C-BE4D-5625A211886D}" srcOrd="0" destOrd="1" presId="urn:microsoft.com/office/officeart/2005/8/layout/process3"/>
    <dgm:cxn modelId="{ADAA0BF3-A53D-0C4F-B999-0885B98B522E}" type="presOf" srcId="{6BF30422-DFE3-B943-A65A-B856869DFE86}" destId="{A61CABDF-62E4-424C-BE4D-5625A211886D}" srcOrd="0" destOrd="2" presId="urn:microsoft.com/office/officeart/2005/8/layout/process3"/>
    <dgm:cxn modelId="{E71831F5-146F-EC4A-B632-A0B7348ED220}" srcId="{31ECAE67-6E46-8246-BFB0-E118F96D25DF}" destId="{30E1D19A-E4B4-1A4E-B80B-C32254E467D2}" srcOrd="0" destOrd="0" parTransId="{29478C56-52A4-3D4B-836B-29ECFB79A2E1}" sibTransId="{5BDC8274-AC7D-5740-83BF-89220E8802DF}"/>
    <dgm:cxn modelId="{CF4525F8-39B8-3B4B-A51A-49C6BCCD34CF}" type="presOf" srcId="{808DC5CA-AE19-BC45-A07C-1D0828B98332}" destId="{A61CABDF-62E4-424C-BE4D-5625A211886D}" srcOrd="0" destOrd="0" presId="urn:microsoft.com/office/officeart/2005/8/layout/process3"/>
    <dgm:cxn modelId="{2299F9D3-16EE-504B-BA1F-E591A634DFCB}" type="presParOf" srcId="{BDA4EF14-FF9E-2C4D-B3C7-ED4F109D96E6}" destId="{9E8ACB31-B196-3745-A128-7EE7876776E6}" srcOrd="0" destOrd="0" presId="urn:microsoft.com/office/officeart/2005/8/layout/process3"/>
    <dgm:cxn modelId="{7890F387-58BA-6A4C-9DAD-0277F0F06C70}" type="presParOf" srcId="{9E8ACB31-B196-3745-A128-7EE7876776E6}" destId="{96E5F8D1-B5C2-1545-A87D-7C3BB7FA52B6}" srcOrd="0" destOrd="0" presId="urn:microsoft.com/office/officeart/2005/8/layout/process3"/>
    <dgm:cxn modelId="{D620915A-1182-3D46-9012-6CF5D47C8124}" type="presParOf" srcId="{9E8ACB31-B196-3745-A128-7EE7876776E6}" destId="{952F186B-491D-AE40-94E6-E3C01D1631D3}" srcOrd="1" destOrd="0" presId="urn:microsoft.com/office/officeart/2005/8/layout/process3"/>
    <dgm:cxn modelId="{2BC4BBFC-473B-FC49-9C61-F7A23A10796B}" type="presParOf" srcId="{9E8ACB31-B196-3745-A128-7EE7876776E6}" destId="{A61CABDF-62E4-424C-BE4D-5625A211886D}" srcOrd="2" destOrd="0" presId="urn:microsoft.com/office/officeart/2005/8/layout/process3"/>
    <dgm:cxn modelId="{612364BF-1DEF-FD42-867A-B3C07319607F}" type="presParOf" srcId="{BDA4EF14-FF9E-2C4D-B3C7-ED4F109D96E6}" destId="{4C40F5F1-4D3B-8340-B3A2-9F0EE335A904}" srcOrd="1" destOrd="0" presId="urn:microsoft.com/office/officeart/2005/8/layout/process3"/>
    <dgm:cxn modelId="{1DC16420-12C7-594F-8290-F4BA57AB7397}" type="presParOf" srcId="{4C40F5F1-4D3B-8340-B3A2-9F0EE335A904}" destId="{118C8292-E0C2-AD49-BC0A-B0048788766E}" srcOrd="0" destOrd="0" presId="urn:microsoft.com/office/officeart/2005/8/layout/process3"/>
    <dgm:cxn modelId="{3E39C240-DC6D-474E-9E71-CFD0568203AB}" type="presParOf" srcId="{BDA4EF14-FF9E-2C4D-B3C7-ED4F109D96E6}" destId="{69864152-9EF5-2E48-A7E2-6A31280510AE}" srcOrd="2" destOrd="0" presId="urn:microsoft.com/office/officeart/2005/8/layout/process3"/>
    <dgm:cxn modelId="{66494908-70E5-9D46-888A-52AE3A10F74E}" type="presParOf" srcId="{69864152-9EF5-2E48-A7E2-6A31280510AE}" destId="{C2610BC2-C9CF-5D44-8BD2-297DB1BE2ADB}" srcOrd="0" destOrd="0" presId="urn:microsoft.com/office/officeart/2005/8/layout/process3"/>
    <dgm:cxn modelId="{C530A426-5202-2246-863F-BFBD8A83A8BE}" type="presParOf" srcId="{69864152-9EF5-2E48-A7E2-6A31280510AE}" destId="{ACE3FD01-90BE-6C4B-ABC8-0E3635A91955}" srcOrd="1" destOrd="0" presId="urn:microsoft.com/office/officeart/2005/8/layout/process3"/>
    <dgm:cxn modelId="{39C1063B-7786-8441-A0BC-275836D0D391}" type="presParOf" srcId="{69864152-9EF5-2E48-A7E2-6A31280510AE}" destId="{6849D2E4-4D5B-6D4B-8E8B-BB65E59ACE49}" srcOrd="2" destOrd="0" presId="urn:microsoft.com/office/officeart/2005/8/layout/process3"/>
    <dgm:cxn modelId="{89324C01-6C87-2646-AD8D-4DA748F4044C}" type="presParOf" srcId="{BDA4EF14-FF9E-2C4D-B3C7-ED4F109D96E6}" destId="{C14F0D55-D36A-6644-BD64-CD3059FE97A5}" srcOrd="3" destOrd="0" presId="urn:microsoft.com/office/officeart/2005/8/layout/process3"/>
    <dgm:cxn modelId="{70CAD026-BC20-8043-BAB1-757823EA85AF}" type="presParOf" srcId="{C14F0D55-D36A-6644-BD64-CD3059FE97A5}" destId="{B45A2225-F36C-3140-84ED-D502BF8BDFFC}" srcOrd="0" destOrd="0" presId="urn:microsoft.com/office/officeart/2005/8/layout/process3"/>
    <dgm:cxn modelId="{9719DF82-1E9F-0C40-B12D-54D296E06056}" type="presParOf" srcId="{BDA4EF14-FF9E-2C4D-B3C7-ED4F109D96E6}" destId="{36B6B139-F921-A942-A784-620547016D17}" srcOrd="4" destOrd="0" presId="urn:microsoft.com/office/officeart/2005/8/layout/process3"/>
    <dgm:cxn modelId="{1DA930AD-C675-C442-97EA-080FF9EC572D}" type="presParOf" srcId="{36B6B139-F921-A942-A784-620547016D17}" destId="{E75A9180-B1D0-EE40-AB5B-7F3BC7D3341E}" srcOrd="0" destOrd="0" presId="urn:microsoft.com/office/officeart/2005/8/layout/process3"/>
    <dgm:cxn modelId="{9F97FFFE-82F9-EE4C-9886-370F20F03661}" type="presParOf" srcId="{36B6B139-F921-A942-A784-620547016D17}" destId="{96BB9C8B-702B-2541-B6CC-00FF0C7936E1}" srcOrd="1" destOrd="0" presId="urn:microsoft.com/office/officeart/2005/8/layout/process3"/>
    <dgm:cxn modelId="{91BD6292-7683-1146-AD63-AD04A332C8A1}" type="presParOf" srcId="{36B6B139-F921-A942-A784-620547016D17}" destId="{315E1F30-F55E-5845-9D70-8B84A98E2AF7}" srcOrd="2" destOrd="0" presId="urn:microsoft.com/office/officeart/2005/8/layout/process3"/>
    <dgm:cxn modelId="{0CD51FDF-F913-8145-884E-615B811398B6}" type="presParOf" srcId="{BDA4EF14-FF9E-2C4D-B3C7-ED4F109D96E6}" destId="{677C9E00-0FE4-D64E-874E-450218EA1498}" srcOrd="5" destOrd="0" presId="urn:microsoft.com/office/officeart/2005/8/layout/process3"/>
    <dgm:cxn modelId="{1028B9AF-E9E5-3B4D-A23B-D3F86D42C5D8}" type="presParOf" srcId="{677C9E00-0FE4-D64E-874E-450218EA1498}" destId="{F26EAEA7-2F58-2849-96BA-A14AAB5A48CA}" srcOrd="0" destOrd="0" presId="urn:microsoft.com/office/officeart/2005/8/layout/process3"/>
    <dgm:cxn modelId="{E4330A57-A4AF-9848-ACE1-0024F38A1294}" type="presParOf" srcId="{BDA4EF14-FF9E-2C4D-B3C7-ED4F109D96E6}" destId="{441BE6E5-674B-F947-801B-6917D0C15062}" srcOrd="6" destOrd="0" presId="urn:microsoft.com/office/officeart/2005/8/layout/process3"/>
    <dgm:cxn modelId="{A83F26A9-4C52-114F-9876-16E953AA761A}" type="presParOf" srcId="{441BE6E5-674B-F947-801B-6917D0C15062}" destId="{0B746D8C-69EE-B248-B617-F1CA99E43709}" srcOrd="0" destOrd="0" presId="urn:microsoft.com/office/officeart/2005/8/layout/process3"/>
    <dgm:cxn modelId="{8078B824-8DAC-624B-AEF3-E7D4C810EA30}" type="presParOf" srcId="{441BE6E5-674B-F947-801B-6917D0C15062}" destId="{EECBB79A-CEBE-BC4B-B1B5-74B257B04B90}" srcOrd="1" destOrd="0" presId="urn:microsoft.com/office/officeart/2005/8/layout/process3"/>
    <dgm:cxn modelId="{9AEC04AD-DF26-714B-A535-2D3085F62894}" type="presParOf" srcId="{441BE6E5-674B-F947-801B-6917D0C15062}" destId="{BCAA5B85-1B82-4444-AB07-6B3D960387E2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DE46D9-D9E9-C049-A7CE-DEBDFAF10F6B}">
      <dsp:nvSpPr>
        <dsp:cNvPr id="0" name=""/>
        <dsp:cNvSpPr/>
      </dsp:nvSpPr>
      <dsp:spPr>
        <a:xfrm>
          <a:off x="2548" y="875782"/>
          <a:ext cx="2268072" cy="907228"/>
        </a:xfrm>
        <a:prstGeom prst="chevron">
          <a:avLst/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Low Application Conversion Rates</a:t>
          </a:r>
        </a:p>
      </dsp:txBody>
      <dsp:txXfrm>
        <a:off x="456162" y="875782"/>
        <a:ext cx="1360844" cy="907228"/>
      </dsp:txXfrm>
    </dsp:sp>
    <dsp:sp modelId="{E4A0EA39-BA40-774F-BBDC-477A707503FA}">
      <dsp:nvSpPr>
        <dsp:cNvPr id="0" name=""/>
        <dsp:cNvSpPr/>
      </dsp:nvSpPr>
      <dsp:spPr>
        <a:xfrm>
          <a:off x="2043813" y="875782"/>
          <a:ext cx="2268072" cy="907228"/>
        </a:xfrm>
        <a:prstGeom prst="chevron">
          <a:avLst/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Revenue Leakage (Poor Monetization)</a:t>
          </a:r>
        </a:p>
      </dsp:txBody>
      <dsp:txXfrm>
        <a:off x="2497427" y="875782"/>
        <a:ext cx="1360844" cy="907228"/>
      </dsp:txXfrm>
    </dsp:sp>
    <dsp:sp modelId="{86330D9F-581B-854A-A690-1C7C25BF1E8F}">
      <dsp:nvSpPr>
        <dsp:cNvPr id="0" name=""/>
        <dsp:cNvSpPr/>
      </dsp:nvSpPr>
      <dsp:spPr>
        <a:xfrm>
          <a:off x="4085077" y="875782"/>
          <a:ext cx="2268072" cy="907228"/>
        </a:xfrm>
        <a:prstGeom prst="chevron">
          <a:avLst/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High Employer Churn</a:t>
          </a:r>
        </a:p>
      </dsp:txBody>
      <dsp:txXfrm>
        <a:off x="4538691" y="875782"/>
        <a:ext cx="1360844" cy="907228"/>
      </dsp:txXfrm>
    </dsp:sp>
    <dsp:sp modelId="{2AADAB23-9E39-1D41-B90A-53DE5F48F48E}">
      <dsp:nvSpPr>
        <dsp:cNvPr id="0" name=""/>
        <dsp:cNvSpPr/>
      </dsp:nvSpPr>
      <dsp:spPr>
        <a:xfrm>
          <a:off x="6126342" y="875782"/>
          <a:ext cx="2268072" cy="907228"/>
        </a:xfrm>
        <a:prstGeom prst="chevron">
          <a:avLst/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Lack of Insights</a:t>
          </a:r>
        </a:p>
      </dsp:txBody>
      <dsp:txXfrm>
        <a:off x="6579956" y="875782"/>
        <a:ext cx="1360844" cy="907228"/>
      </dsp:txXfrm>
    </dsp:sp>
    <dsp:sp modelId="{6FEB871A-4A00-BC4C-80AD-7B00B378391D}">
      <dsp:nvSpPr>
        <dsp:cNvPr id="0" name=""/>
        <dsp:cNvSpPr/>
      </dsp:nvSpPr>
      <dsp:spPr>
        <a:xfrm>
          <a:off x="8167607" y="875782"/>
          <a:ext cx="2268072" cy="907228"/>
        </a:xfrm>
        <a:prstGeom prst="chevron">
          <a:avLst/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Manual &amp; Reactive Process</a:t>
          </a:r>
        </a:p>
      </dsp:txBody>
      <dsp:txXfrm>
        <a:off x="8621221" y="875782"/>
        <a:ext cx="1360844" cy="907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BFE00-4EC0-B74E-825C-75EE99728E02}">
      <dsp:nvSpPr>
        <dsp:cNvPr id="0" name=""/>
        <dsp:cNvSpPr/>
      </dsp:nvSpPr>
      <dsp:spPr>
        <a:xfrm>
          <a:off x="38" y="33203"/>
          <a:ext cx="3656395" cy="1238400"/>
        </a:xfrm>
        <a:prstGeom prst="rect">
          <a:avLst/>
        </a:prstGeom>
        <a:solidFill>
          <a:srgbClr val="0374B3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Goals</a:t>
          </a:r>
        </a:p>
      </dsp:txBody>
      <dsp:txXfrm>
        <a:off x="38" y="33203"/>
        <a:ext cx="3656395" cy="1238400"/>
      </dsp:txXfrm>
    </dsp:sp>
    <dsp:sp modelId="{F6FC249F-A75D-2443-9840-244177D63E6B}">
      <dsp:nvSpPr>
        <dsp:cNvPr id="0" name=""/>
        <dsp:cNvSpPr/>
      </dsp:nvSpPr>
      <dsp:spPr>
        <a:xfrm>
          <a:off x="38" y="1271603"/>
          <a:ext cx="3656395" cy="1888560"/>
        </a:xfrm>
        <a:prstGeom prst="rect">
          <a:avLst/>
        </a:prstGeom>
        <a:solidFill>
          <a:schemeClr val="bg1">
            <a:alpha val="90000"/>
          </a:schemeClr>
        </a:solidFill>
        <a:ln w="1905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Increase Job Conversion Ratio    (Applies / Views)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Maximize ROI for employers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Platform Engagement &amp; Employer Retention</a:t>
          </a:r>
        </a:p>
      </dsp:txBody>
      <dsp:txXfrm>
        <a:off x="38" y="1271603"/>
        <a:ext cx="3656395" cy="1888560"/>
      </dsp:txXfrm>
    </dsp:sp>
    <dsp:sp modelId="{65BA8741-434A-1245-8DEF-6EFCC0BBF564}">
      <dsp:nvSpPr>
        <dsp:cNvPr id="0" name=""/>
        <dsp:cNvSpPr/>
      </dsp:nvSpPr>
      <dsp:spPr>
        <a:xfrm>
          <a:off x="4168329" y="33203"/>
          <a:ext cx="3656395" cy="1238400"/>
        </a:xfrm>
        <a:prstGeom prst="rect">
          <a:avLst/>
        </a:prstGeom>
        <a:solidFill>
          <a:srgbClr val="0374B3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Strategy</a:t>
          </a:r>
        </a:p>
      </dsp:txBody>
      <dsp:txXfrm>
        <a:off x="4168329" y="33203"/>
        <a:ext cx="3656395" cy="1238400"/>
      </dsp:txXfrm>
    </dsp:sp>
    <dsp:sp modelId="{05098A6D-E14C-984C-861F-1966B8B49796}">
      <dsp:nvSpPr>
        <dsp:cNvPr id="0" name=""/>
        <dsp:cNvSpPr/>
      </dsp:nvSpPr>
      <dsp:spPr>
        <a:xfrm>
          <a:off x="4168329" y="1271603"/>
          <a:ext cx="3656395" cy="1888560"/>
        </a:xfrm>
        <a:prstGeom prst="rect">
          <a:avLst/>
        </a:prstGeom>
        <a:solidFill>
          <a:schemeClr val="bg1">
            <a:alpha val="90000"/>
          </a:schemeClr>
        </a:solidFill>
        <a:ln w="1905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CRM Implementation – Centralized Integration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 Dashboards – Performance &amp; Alerts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Target Employers - Sponsorship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Strategic frameworks – SWOT, Balance Scorecard, PDCA</a:t>
          </a:r>
        </a:p>
      </dsp:txBody>
      <dsp:txXfrm>
        <a:off x="4168329" y="1271603"/>
        <a:ext cx="3656395" cy="1888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CE5B4-C9D3-F34B-81B5-65F3573AA460}">
      <dsp:nvSpPr>
        <dsp:cNvPr id="0" name=""/>
        <dsp:cNvSpPr/>
      </dsp:nvSpPr>
      <dsp:spPr>
        <a:xfrm>
          <a:off x="923808" y="0"/>
          <a:ext cx="9809811" cy="5655211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13AEC2-8D42-1C44-8004-57F0D7E60861}">
      <dsp:nvSpPr>
        <dsp:cNvPr id="0" name=""/>
        <dsp:cNvSpPr/>
      </dsp:nvSpPr>
      <dsp:spPr>
        <a:xfrm>
          <a:off x="1405049" y="348010"/>
          <a:ext cx="4054831" cy="2138868"/>
        </a:xfrm>
        <a:prstGeom prst="roundRect">
          <a:avLst/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STRENGTHS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Large employer base, trusted brand, access to job &amp; engagement data.</a:t>
          </a:r>
        </a:p>
      </dsp:txBody>
      <dsp:txXfrm>
        <a:off x="1509460" y="452421"/>
        <a:ext cx="3846009" cy="1930046"/>
      </dsp:txXfrm>
    </dsp:sp>
    <dsp:sp modelId="{6F37E8D7-2351-2243-88F8-FD4AB292D8EF}">
      <dsp:nvSpPr>
        <dsp:cNvPr id="0" name=""/>
        <dsp:cNvSpPr/>
      </dsp:nvSpPr>
      <dsp:spPr>
        <a:xfrm>
          <a:off x="6321260" y="352353"/>
          <a:ext cx="3784150" cy="2153346"/>
        </a:xfrm>
        <a:prstGeom prst="roundRect">
          <a:avLst/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WEAKNESSES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Poor use of sponsorship, no automation or insights</a:t>
          </a:r>
        </a:p>
      </dsp:txBody>
      <dsp:txXfrm>
        <a:off x="6426378" y="457471"/>
        <a:ext cx="3573914" cy="1943110"/>
      </dsp:txXfrm>
    </dsp:sp>
    <dsp:sp modelId="{BCB4773E-9C2E-1644-8D03-6A92A94C3E95}">
      <dsp:nvSpPr>
        <dsp:cNvPr id="0" name=""/>
        <dsp:cNvSpPr/>
      </dsp:nvSpPr>
      <dsp:spPr>
        <a:xfrm>
          <a:off x="1399767" y="3058168"/>
          <a:ext cx="3995858" cy="2196823"/>
        </a:xfrm>
        <a:prstGeom prst="roundRect">
          <a:avLst/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OPPORTUNITIES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 of sales CRM and BI dashboards</a:t>
          </a:r>
        </a:p>
      </dsp:txBody>
      <dsp:txXfrm>
        <a:off x="1507007" y="3165408"/>
        <a:ext cx="3781378" cy="1982343"/>
      </dsp:txXfrm>
    </dsp:sp>
    <dsp:sp modelId="{CFB168CE-687A-CB43-910D-EA32519F6983}">
      <dsp:nvSpPr>
        <dsp:cNvPr id="0" name=""/>
        <dsp:cNvSpPr/>
      </dsp:nvSpPr>
      <dsp:spPr>
        <a:xfrm>
          <a:off x="6300460" y="3037142"/>
          <a:ext cx="3861491" cy="2262084"/>
        </a:xfrm>
        <a:prstGeom prst="roundRect">
          <a:avLst/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THREATS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Competitors ahead in terms of Analytics, Social-Platform ads, One-Click apply</a:t>
          </a:r>
        </a:p>
      </dsp:txBody>
      <dsp:txXfrm>
        <a:off x="6410886" y="3147568"/>
        <a:ext cx="3640639" cy="20412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F186B-491D-AE40-94E6-E3C01D1631D3}">
      <dsp:nvSpPr>
        <dsp:cNvPr id="0" name=""/>
        <dsp:cNvSpPr/>
      </dsp:nvSpPr>
      <dsp:spPr>
        <a:xfrm>
          <a:off x="1477" y="948127"/>
          <a:ext cx="1856060" cy="777599"/>
        </a:xfrm>
        <a:prstGeom prst="roundRect">
          <a:avLst>
            <a:gd name="adj" fmla="val 10000"/>
          </a:avLst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Plan</a:t>
          </a:r>
        </a:p>
      </dsp:txBody>
      <dsp:txXfrm>
        <a:off x="1477" y="948127"/>
        <a:ext cx="1856060" cy="518400"/>
      </dsp:txXfrm>
    </dsp:sp>
    <dsp:sp modelId="{A61CABDF-62E4-424C-BE4D-5625A211886D}">
      <dsp:nvSpPr>
        <dsp:cNvPr id="0" name=""/>
        <dsp:cNvSpPr/>
      </dsp:nvSpPr>
      <dsp:spPr>
        <a:xfrm>
          <a:off x="381633" y="1673394"/>
          <a:ext cx="1856060" cy="14921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RCA- (SWOT)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CRM Objectives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KPIs benchmarking</a:t>
          </a:r>
        </a:p>
      </dsp:txBody>
      <dsp:txXfrm>
        <a:off x="425337" y="1717098"/>
        <a:ext cx="1768652" cy="1404762"/>
      </dsp:txXfrm>
    </dsp:sp>
    <dsp:sp modelId="{4C40F5F1-4D3B-8340-B3A2-9F0EE335A904}">
      <dsp:nvSpPr>
        <dsp:cNvPr id="0" name=""/>
        <dsp:cNvSpPr/>
      </dsp:nvSpPr>
      <dsp:spPr>
        <a:xfrm rot="21593792">
          <a:off x="2138908" y="973552"/>
          <a:ext cx="596509" cy="4621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2138908" y="1066098"/>
        <a:ext cx="457878" cy="277263"/>
      </dsp:txXfrm>
    </dsp:sp>
    <dsp:sp modelId="{ACE3FD01-90BE-6C4B-ABC8-0E3635A91955}">
      <dsp:nvSpPr>
        <dsp:cNvPr id="0" name=""/>
        <dsp:cNvSpPr/>
      </dsp:nvSpPr>
      <dsp:spPr>
        <a:xfrm>
          <a:off x="2983025" y="942743"/>
          <a:ext cx="1856060" cy="777599"/>
        </a:xfrm>
        <a:prstGeom prst="roundRect">
          <a:avLst>
            <a:gd name="adj" fmla="val 10000"/>
          </a:avLst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Do</a:t>
          </a:r>
        </a:p>
      </dsp:txBody>
      <dsp:txXfrm>
        <a:off x="2983025" y="942743"/>
        <a:ext cx="1856060" cy="518400"/>
      </dsp:txXfrm>
    </dsp:sp>
    <dsp:sp modelId="{6849D2E4-4D5B-6D4B-8E8B-BB65E59ACE49}">
      <dsp:nvSpPr>
        <dsp:cNvPr id="0" name=""/>
        <dsp:cNvSpPr/>
      </dsp:nvSpPr>
      <dsp:spPr>
        <a:xfrm>
          <a:off x="3363182" y="1657241"/>
          <a:ext cx="1856060" cy="15137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Salesforce CRM sales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Tableau BI dashboard</a:t>
          </a:r>
        </a:p>
      </dsp:txBody>
      <dsp:txXfrm>
        <a:off x="3407517" y="1701576"/>
        <a:ext cx="1767390" cy="1425037"/>
      </dsp:txXfrm>
    </dsp:sp>
    <dsp:sp modelId="{C14F0D55-D36A-6644-BD64-CD3059FE97A5}">
      <dsp:nvSpPr>
        <dsp:cNvPr id="0" name=""/>
        <dsp:cNvSpPr/>
      </dsp:nvSpPr>
      <dsp:spPr>
        <a:xfrm rot="3055">
          <a:off x="5120457" y="972230"/>
          <a:ext cx="596508" cy="4621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5120457" y="1064589"/>
        <a:ext cx="457877" cy="277263"/>
      </dsp:txXfrm>
    </dsp:sp>
    <dsp:sp modelId="{96BB9C8B-702B-2541-B6CC-00FF0C7936E1}">
      <dsp:nvSpPr>
        <dsp:cNvPr id="0" name=""/>
        <dsp:cNvSpPr/>
      </dsp:nvSpPr>
      <dsp:spPr>
        <a:xfrm>
          <a:off x="5964573" y="945392"/>
          <a:ext cx="1856060" cy="777599"/>
        </a:xfrm>
        <a:prstGeom prst="roundRect">
          <a:avLst>
            <a:gd name="adj" fmla="val 10000"/>
          </a:avLst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Check</a:t>
          </a:r>
        </a:p>
      </dsp:txBody>
      <dsp:txXfrm>
        <a:off x="5964573" y="945392"/>
        <a:ext cx="1856060" cy="518400"/>
      </dsp:txXfrm>
    </dsp:sp>
    <dsp:sp modelId="{315E1F30-F55E-5845-9D70-8B84A98E2AF7}">
      <dsp:nvSpPr>
        <dsp:cNvPr id="0" name=""/>
        <dsp:cNvSpPr/>
      </dsp:nvSpPr>
      <dsp:spPr>
        <a:xfrm>
          <a:off x="6344730" y="1665189"/>
          <a:ext cx="1856060" cy="15031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Monitor Views, Job Conversion Ratio, Employer activity</a:t>
          </a:r>
        </a:p>
      </dsp:txBody>
      <dsp:txXfrm>
        <a:off x="6388755" y="1709214"/>
        <a:ext cx="1768010" cy="1415060"/>
      </dsp:txXfrm>
    </dsp:sp>
    <dsp:sp modelId="{677C9E00-0FE4-D64E-874E-450218EA1498}">
      <dsp:nvSpPr>
        <dsp:cNvPr id="0" name=""/>
        <dsp:cNvSpPr/>
      </dsp:nvSpPr>
      <dsp:spPr>
        <a:xfrm>
          <a:off x="8102005" y="973539"/>
          <a:ext cx="596508" cy="4621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8102005" y="1065960"/>
        <a:ext cx="457877" cy="277263"/>
      </dsp:txXfrm>
    </dsp:sp>
    <dsp:sp modelId="{EECBB79A-CEBE-BC4B-B1B5-74B257B04B90}">
      <dsp:nvSpPr>
        <dsp:cNvPr id="0" name=""/>
        <dsp:cNvSpPr/>
      </dsp:nvSpPr>
      <dsp:spPr>
        <a:xfrm>
          <a:off x="8946121" y="945392"/>
          <a:ext cx="1856060" cy="777599"/>
        </a:xfrm>
        <a:prstGeom prst="roundRect">
          <a:avLst>
            <a:gd name="adj" fmla="val 10000"/>
          </a:avLst>
        </a:prstGeom>
        <a:solidFill>
          <a:srgbClr val="0374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Act</a:t>
          </a:r>
        </a:p>
      </dsp:txBody>
      <dsp:txXfrm>
        <a:off x="8946121" y="945392"/>
        <a:ext cx="1856060" cy="518400"/>
      </dsp:txXfrm>
    </dsp:sp>
    <dsp:sp modelId="{BCAA5B85-1B82-4444-AB07-6B3D960387E2}">
      <dsp:nvSpPr>
        <dsp:cNvPr id="0" name=""/>
        <dsp:cNvSpPr/>
      </dsp:nvSpPr>
      <dsp:spPr>
        <a:xfrm>
          <a:off x="9326278" y="1665189"/>
          <a:ext cx="1856060" cy="15031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Adjust KPIs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Tweak Sponsorship strategy</a:t>
          </a:r>
        </a:p>
      </dsp:txBody>
      <dsp:txXfrm>
        <a:off x="9370303" y="1709214"/>
        <a:ext cx="1768010" cy="1415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69B11-9798-A448-A223-453C1ED5CB45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D1CFD-A043-B648-A0D9-04315C50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8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LinkedIn's job posting platform is underperforming due to several critical operational and financial challenges:</a:t>
            </a:r>
          </a:p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Conversion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Despite job listings receiving views, application rates remain low.</a:t>
            </a:r>
          </a:p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 Leakage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Minimal use of sponsored listings (only ~5%) results in poor monetization.</a:t>
            </a:r>
          </a:p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Employer Churn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Employers are leaving the platform due to poor ROI and a lack of actionable feedback.</a:t>
            </a:r>
          </a:p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Lack of Insights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There’s no consolidated view of job performance, employer engagement, or candidate </a:t>
            </a:r>
            <a:r>
              <a:rPr lang="en-I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Manual &amp; Reactive Processes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Outreach to employers is delayed, non-personalized, and lacks automation.</a:t>
            </a: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results in </a:t>
            </a:r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 revenue, reduced satisfaction, and operational inefficiency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threatening LinkedIn's competitiveness in the recruitment market.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D1CFD-A043-B648-A0D9-04315C50E0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8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52AD-0263-13C6-F58C-411D28E5A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BEDF3-C3E3-7B1E-8062-DEAFD805D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ABE27-B855-85BD-222A-AB2F60A84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009C-5665-2946-8483-E66290B8ED82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13246-C2ED-A3F3-DD34-34BAFCD7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AB701-E768-E356-B8AC-824B8349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341E-6EE4-664C-AC0A-5DF2E4FDF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6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5933C-06A5-AD25-3195-EB4CA2B8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13438-CA80-A35A-F55C-0AE65D56C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35CC8-26D1-EB00-CEFA-1B884E3F7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009C-5665-2946-8483-E66290B8ED82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6CAAA-C275-3CC6-0EBA-713CB5CE7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1267C-D7C2-0E0D-15C1-2547720FA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341E-6EE4-664C-AC0A-5DF2E4FDF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35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D400-D3CB-06E7-C488-528CEF24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EDA6B-4969-E6CB-86BA-7CE250694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E0FA6-C51A-E310-F7A3-B8815185C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009C-5665-2946-8483-E66290B8ED82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8FE71-3A3B-C143-4D5F-1C2FBDCE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A4875-5849-4F25-A0F5-4814D95F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341E-6EE4-664C-AC0A-5DF2E4FDF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65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B487-EA1C-0096-89DF-CBF438764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60CC7-0B66-6A06-1477-8B7101AF1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13130-1067-AFE6-6665-2390A7E2E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1866F-4F56-BD3B-9903-0B06EE949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009C-5665-2946-8483-E66290B8ED82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67A60-7091-7BBC-728E-B715384D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9AEC8-170A-8562-AA3F-D9BF2970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341E-6EE4-664C-AC0A-5DF2E4FDF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04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5B0ED-33C5-4BFB-6F86-0E24A2762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20652-97A1-59FE-5FF3-6B5212AF5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EE856-A4A9-7537-BB18-A73DB5CD6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08272E-7C47-A3A4-EE2F-1B684FC0F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B049D-137B-D591-F8F0-9D40B1779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F698F-3A48-43D8-C595-8FF2C2D7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009C-5665-2946-8483-E66290B8ED82}" type="datetimeFigureOut">
              <a:rPr lang="en-US" smtClean="0"/>
              <a:t>8/6/25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F8E605-BA58-5FA7-65CE-D4E1AFCC0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18A01-A0B1-998E-34F9-79267D8CE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341E-6EE4-664C-AC0A-5DF2E4FDF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00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629E-720F-B6AE-20C4-56047F188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A486B8-4404-EFFA-11F1-D06A472A0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009C-5665-2946-8483-E66290B8ED82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5DB3E-D117-9B7A-F5FD-44333C2A2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E405B-474A-60A3-3CF2-5DBBAAA3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341E-6EE4-664C-AC0A-5DF2E4FDF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98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FF6BB-3B49-8954-A69B-BC826E1B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009C-5665-2946-8483-E66290B8ED82}" type="datetimeFigureOut">
              <a:rPr lang="en-US" smtClean="0"/>
              <a:t>8/6/25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87797-6A85-7D38-665F-2017B0A4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3821D-F9D9-2ABD-8C93-55053EF1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341E-6EE4-664C-AC0A-5DF2E4FDF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4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A68FB-6435-A5E9-9121-A684E30CE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022A6-7280-1E6A-E541-2CF2E7B59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BC09A-4D95-A35C-E4C2-2E3B2862F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BF152-0E6A-4543-82F2-78A23172D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009C-5665-2946-8483-E66290B8ED82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575FA-3BA3-B2C2-9D46-4BCE3C09D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DDCC3-B328-7AF2-EE0D-89599F0A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341E-6EE4-664C-AC0A-5DF2E4FDF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1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6B601-26DA-70F6-C608-17345997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859B8B-C56F-0555-371D-62D86C99D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AAE0D-8C61-20C1-4E70-AAE83CD60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B359B-5BE9-3F2B-1617-E9F163CD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009C-5665-2946-8483-E66290B8ED82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094B9-7422-CB86-18EC-8417E16DD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20DDA-9E0A-8BF2-9847-D0D44ADAF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341E-6EE4-664C-AC0A-5DF2E4FDF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36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C3D9-73A2-FC5E-5BBA-0AA470615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748F1-DC80-91F8-EA8E-58FCC2D53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FD348-E05D-1B1C-1430-EC66C273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009C-5665-2946-8483-E66290B8ED82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453B6-B2C0-5042-A6D8-8DC8CFB1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ACAB9-DB45-FB47-201E-EFBB280B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341E-6EE4-664C-AC0A-5DF2E4FDF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22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EA4F1-957D-D8FC-0D28-4242BEB8F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AF6F3-8276-5ACC-447C-C337BA26A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8CE53-5A57-388B-CD24-38DA3758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009C-5665-2946-8483-E66290B8ED82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369DD-1A30-7104-C839-940F276B0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55868-A0C5-E191-D7CA-6AE5357A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341E-6EE4-664C-AC0A-5DF2E4FDF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32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B76735-0118-B331-1B40-0B10A3885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FE6FF-7C23-A7B8-F183-DABD5B92F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FC29E-9DDE-5AF2-480D-76BAB169C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49009C-5665-2946-8483-E66290B8ED82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2A96A-B68B-1E61-E2B6-C891E74AF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FE933-9061-A125-1B60-38B6F503A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B341E-6EE4-664C-AC0A-5DF2E4FDF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9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A86CFF-A296-7261-2410-48E8C0E17551}"/>
              </a:ext>
            </a:extLst>
          </p:cNvPr>
          <p:cNvSpPr txBox="1"/>
          <p:nvPr/>
        </p:nvSpPr>
        <p:spPr>
          <a:xfrm>
            <a:off x="301597" y="578842"/>
            <a:ext cx="11952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Optimizing B2B Sales Outreach at LinkedIn using Job Activity Signals and Lead Scoring </a:t>
            </a:r>
          </a:p>
        </p:txBody>
      </p:sp>
      <p:pic>
        <p:nvPicPr>
          <p:cNvPr id="8194" name="Picture 2" descr="A group of logos with text&#10;&#10;AI-generated content may be incorrect.">
            <a:extLst>
              <a:ext uri="{FF2B5EF4-FFF2-40B4-BE49-F238E27FC236}">
                <a16:creationId xmlns:a16="http://schemas.microsoft.com/office/drawing/2014/main" id="{49323E47-FBD4-1559-6B90-440B8393F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883" y="1273765"/>
            <a:ext cx="4736123" cy="323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E4832D-1C78-6D7C-CA6C-EE6B7EF23A6F}"/>
              </a:ext>
            </a:extLst>
          </p:cNvPr>
          <p:cNvSpPr txBox="1"/>
          <p:nvPr/>
        </p:nvSpPr>
        <p:spPr>
          <a:xfrm>
            <a:off x="672906" y="5401993"/>
            <a:ext cx="3448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Surya Chandra Raju Kurapati</a:t>
            </a:r>
          </a:p>
          <a:p>
            <a:r>
              <a:rPr lang="en-US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x23396920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CF182-E260-B76F-2A6C-1EA9FE802CC7}"/>
              </a:ext>
            </a:extLst>
          </p:cNvPr>
          <p:cNvSpPr txBox="1"/>
          <p:nvPr/>
        </p:nvSpPr>
        <p:spPr>
          <a:xfrm>
            <a:off x="4766584" y="5401993"/>
            <a:ext cx="3151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Saranya </a:t>
            </a:r>
            <a:r>
              <a:rPr lang="en-US" b="1" dirty="0" err="1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Munikannaiah</a:t>
            </a:r>
            <a:endParaRPr lang="en-US" b="1" dirty="0">
              <a:solidFill>
                <a:srgbClr val="0374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x23434821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B1B81-37B6-F6CC-9746-233DC19CA581}"/>
              </a:ext>
            </a:extLst>
          </p:cNvPr>
          <p:cNvSpPr txBox="1"/>
          <p:nvPr/>
        </p:nvSpPr>
        <p:spPr>
          <a:xfrm>
            <a:off x="8562498" y="5401993"/>
            <a:ext cx="3151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Yathish Juttu Rajkumar</a:t>
            </a:r>
          </a:p>
          <a:p>
            <a:r>
              <a:rPr lang="en-US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x23389818</a:t>
            </a:r>
          </a:p>
        </p:txBody>
      </p:sp>
    </p:spTree>
    <p:extLst>
      <p:ext uri="{BB962C8B-B14F-4D97-AF65-F5344CB8AC3E}">
        <p14:creationId xmlns:p14="http://schemas.microsoft.com/office/powerpoint/2010/main" val="229797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2DDEEB-D739-83D2-40B8-DBDF26A508C2}"/>
              </a:ext>
            </a:extLst>
          </p:cNvPr>
          <p:cNvSpPr txBox="1"/>
          <p:nvPr/>
        </p:nvSpPr>
        <p:spPr>
          <a:xfrm>
            <a:off x="4350169" y="860873"/>
            <a:ext cx="2716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5ABCF94-939C-0FEA-64D6-89D28D7F1A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9131941"/>
              </p:ext>
            </p:extLst>
          </p:nvPr>
        </p:nvGraphicFramePr>
        <p:xfrm>
          <a:off x="1055077" y="2602526"/>
          <a:ext cx="10438228" cy="2658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FCDE174-603F-D2C6-CE39-7DB07CB304AA}"/>
              </a:ext>
            </a:extLst>
          </p:cNvPr>
          <p:cNvSpPr txBox="1"/>
          <p:nvPr/>
        </p:nvSpPr>
        <p:spPr>
          <a:xfrm>
            <a:off x="2416146" y="2548827"/>
            <a:ext cx="8026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underperforming due to Operational and Financial instabilities due to: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349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A0D2-43A8-9992-F622-AC0C9976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DDCAF2-9A43-B5C3-EB63-9D9D157914AD}"/>
              </a:ext>
            </a:extLst>
          </p:cNvPr>
          <p:cNvSpPr txBox="1"/>
          <p:nvPr/>
        </p:nvSpPr>
        <p:spPr>
          <a:xfrm>
            <a:off x="3914070" y="720194"/>
            <a:ext cx="366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Goals &amp; Strategy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8DE4BAC-6947-7D53-C29F-42D6420CFC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1573457"/>
              </p:ext>
            </p:extLst>
          </p:nvPr>
        </p:nvGraphicFramePr>
        <p:xfrm>
          <a:off x="1969475" y="1955410"/>
          <a:ext cx="7824763" cy="3193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9720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C58C3E-68EE-B090-835A-83D353B9E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40" y="3360862"/>
            <a:ext cx="960511" cy="9605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C0B20D-2C0E-71A2-43F6-F8F7D5D0E30F}"/>
              </a:ext>
            </a:extLst>
          </p:cNvPr>
          <p:cNvSpPr txBox="1"/>
          <p:nvPr/>
        </p:nvSpPr>
        <p:spPr>
          <a:xfrm>
            <a:off x="2033271" y="3624626"/>
            <a:ext cx="13708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Sales Navigator</a:t>
            </a:r>
          </a:p>
          <a:p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(CRM Sync)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FCD747-5562-AB87-673A-279AE0BAFA1D}"/>
              </a:ext>
            </a:extLst>
          </p:cNvPr>
          <p:cNvSpPr/>
          <p:nvPr/>
        </p:nvSpPr>
        <p:spPr>
          <a:xfrm>
            <a:off x="3967541" y="2238182"/>
            <a:ext cx="960511" cy="230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CBDB00-09C3-D077-302B-1AD9642D0561}"/>
              </a:ext>
            </a:extLst>
          </p:cNvPr>
          <p:cNvSpPr txBox="1"/>
          <p:nvPr/>
        </p:nvSpPr>
        <p:spPr>
          <a:xfrm>
            <a:off x="4167857" y="2238183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EB146C-0CD1-E6AE-8B28-6D7A4AC1EDCF}"/>
              </a:ext>
            </a:extLst>
          </p:cNvPr>
          <p:cNvSpPr/>
          <p:nvPr/>
        </p:nvSpPr>
        <p:spPr>
          <a:xfrm>
            <a:off x="5094260" y="4814841"/>
            <a:ext cx="960511" cy="230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909539-E343-4DB1-813E-F80A7E94A6A1}"/>
              </a:ext>
            </a:extLst>
          </p:cNvPr>
          <p:cNvSpPr txBox="1"/>
          <p:nvPr/>
        </p:nvSpPr>
        <p:spPr>
          <a:xfrm>
            <a:off x="5210168" y="4814842"/>
            <a:ext cx="8194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D1818F-7AD2-FBE3-4A11-1FECD98B11CE}"/>
              </a:ext>
            </a:extLst>
          </p:cNvPr>
          <p:cNvSpPr txBox="1"/>
          <p:nvPr/>
        </p:nvSpPr>
        <p:spPr>
          <a:xfrm>
            <a:off x="3616235" y="4462512"/>
            <a:ext cx="8306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Sales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5E1D3D3-7890-F13B-FBDB-DBBB78607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268" y="3273038"/>
            <a:ext cx="1548313" cy="95348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FA6B98B-D88B-2786-2682-B2CE319F9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037" y="3061419"/>
            <a:ext cx="2133600" cy="1473200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E2DE4A8-3DA2-E56E-5B96-D2F6C994C745}"/>
              </a:ext>
            </a:extLst>
          </p:cNvPr>
          <p:cNvCxnSpPr>
            <a:stCxn id="7" idx="1"/>
          </p:cNvCxnSpPr>
          <p:nvPr/>
        </p:nvCxnSpPr>
        <p:spPr>
          <a:xfrm flipV="1">
            <a:off x="2033271" y="3840069"/>
            <a:ext cx="13708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8C9D73C-4712-4797-02A4-7A29C4064FFC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5539637" y="3798019"/>
            <a:ext cx="9124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96F2918-C635-B400-7AA7-6966BE55339E}"/>
              </a:ext>
            </a:extLst>
          </p:cNvPr>
          <p:cNvSpPr txBox="1"/>
          <p:nvPr/>
        </p:nvSpPr>
        <p:spPr>
          <a:xfrm>
            <a:off x="5619896" y="3566105"/>
            <a:ext cx="6463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salesforce</a:t>
            </a:r>
          </a:p>
          <a:p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92CC081-B162-D63E-1013-B28D2C63F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1092" y="3049541"/>
            <a:ext cx="2095500" cy="17653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26555297-CC45-7D65-1E08-E4A07B7280B7}"/>
              </a:ext>
            </a:extLst>
          </p:cNvPr>
          <p:cNvSpPr/>
          <p:nvPr/>
        </p:nvSpPr>
        <p:spPr>
          <a:xfrm>
            <a:off x="2973216" y="2717419"/>
            <a:ext cx="960511" cy="230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FAF348-3E3E-D929-2C20-26E29E25FEAD}"/>
              </a:ext>
            </a:extLst>
          </p:cNvPr>
          <p:cNvSpPr txBox="1"/>
          <p:nvPr/>
        </p:nvSpPr>
        <p:spPr>
          <a:xfrm>
            <a:off x="3173532" y="2717420"/>
            <a:ext cx="6206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FCD6D26-29D8-9078-D063-A06EE30CEBC9}"/>
              </a:ext>
            </a:extLst>
          </p:cNvPr>
          <p:cNvSpPr/>
          <p:nvPr/>
        </p:nvSpPr>
        <p:spPr>
          <a:xfrm>
            <a:off x="4896159" y="2714089"/>
            <a:ext cx="960511" cy="230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21DD62-3827-9912-B12B-FD94DEC18E77}"/>
              </a:ext>
            </a:extLst>
          </p:cNvPr>
          <p:cNvSpPr txBox="1"/>
          <p:nvPr/>
        </p:nvSpPr>
        <p:spPr>
          <a:xfrm>
            <a:off x="5040203" y="2714090"/>
            <a:ext cx="7649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Postings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4482345-0C90-ACB6-31CB-A3F2B46F3A9D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3933727" y="2832836"/>
            <a:ext cx="528442" cy="3800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9B4249F-281C-A5D4-4068-9392E96DF142}"/>
              </a:ext>
            </a:extLst>
          </p:cNvPr>
          <p:cNvCxnSpPr>
            <a:cxnSpLocks/>
            <a:stCxn id="60" idx="1"/>
          </p:cNvCxnSpPr>
          <p:nvPr/>
        </p:nvCxnSpPr>
        <p:spPr>
          <a:xfrm flipH="1">
            <a:off x="4456933" y="2829506"/>
            <a:ext cx="439226" cy="3834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32FBD4F-5B72-C839-0AA2-72A180F4F28C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4462169" y="2469015"/>
            <a:ext cx="0" cy="7439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9AE8C731-DF32-CE37-B242-B9114C0B4B47}"/>
              </a:ext>
            </a:extLst>
          </p:cNvPr>
          <p:cNvCxnSpPr>
            <a:cxnSpLocks/>
            <a:stCxn id="53" idx="2"/>
          </p:cNvCxnSpPr>
          <p:nvPr/>
        </p:nvCxnSpPr>
        <p:spPr>
          <a:xfrm rot="5400000">
            <a:off x="7935596" y="2937009"/>
            <a:ext cx="115415" cy="3871079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E1FBBCD4-0B82-31D7-3D95-3AD9CEC840CF}"/>
              </a:ext>
            </a:extLst>
          </p:cNvPr>
          <p:cNvCxnSpPr>
            <a:stCxn id="26" idx="1"/>
          </p:cNvCxnSpPr>
          <p:nvPr/>
        </p:nvCxnSpPr>
        <p:spPr>
          <a:xfrm rot="10800000">
            <a:off x="4756480" y="4226520"/>
            <a:ext cx="337780" cy="7037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B064399-7233-0891-1DD9-FF9C8266C5B8}"/>
              </a:ext>
            </a:extLst>
          </p:cNvPr>
          <p:cNvCxnSpPr>
            <a:cxnSpLocks/>
          </p:cNvCxnSpPr>
          <p:nvPr/>
        </p:nvCxnSpPr>
        <p:spPr>
          <a:xfrm>
            <a:off x="8067541" y="3833428"/>
            <a:ext cx="767813" cy="6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1A4609D2-260C-0979-D57E-A00835643021}"/>
              </a:ext>
            </a:extLst>
          </p:cNvPr>
          <p:cNvSpPr txBox="1"/>
          <p:nvPr/>
        </p:nvSpPr>
        <p:spPr>
          <a:xfrm>
            <a:off x="8079037" y="3606228"/>
            <a:ext cx="7040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</a:p>
          <a:p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EF2F3C3-2FBE-2AE5-4C7A-5A064B378ED3}"/>
              </a:ext>
            </a:extLst>
          </p:cNvPr>
          <p:cNvSpPr/>
          <p:nvPr/>
        </p:nvSpPr>
        <p:spPr>
          <a:xfrm>
            <a:off x="8008945" y="2656579"/>
            <a:ext cx="960511" cy="230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169D5A8-19A9-1504-7638-C32310BAC5CB}"/>
              </a:ext>
            </a:extLst>
          </p:cNvPr>
          <p:cNvSpPr txBox="1"/>
          <p:nvPr/>
        </p:nvSpPr>
        <p:spPr>
          <a:xfrm>
            <a:off x="8026377" y="2656580"/>
            <a:ext cx="9637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Performance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7F6A402-E0CF-C009-0154-15AAB07F2CC3}"/>
              </a:ext>
            </a:extLst>
          </p:cNvPr>
          <p:cNvSpPr/>
          <p:nvPr/>
        </p:nvSpPr>
        <p:spPr>
          <a:xfrm>
            <a:off x="9227289" y="2210045"/>
            <a:ext cx="960511" cy="230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819C3CA-B298-5F04-716A-31F8E4FF7D87}"/>
              </a:ext>
            </a:extLst>
          </p:cNvPr>
          <p:cNvSpPr txBox="1"/>
          <p:nvPr/>
        </p:nvSpPr>
        <p:spPr>
          <a:xfrm>
            <a:off x="9244721" y="2210046"/>
            <a:ext cx="8547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Behavior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7296C9C-DF39-DB08-7383-E385B1B55FFE}"/>
              </a:ext>
            </a:extLst>
          </p:cNvPr>
          <p:cNvSpPr/>
          <p:nvPr/>
        </p:nvSpPr>
        <p:spPr>
          <a:xfrm>
            <a:off x="10411416" y="2656579"/>
            <a:ext cx="960511" cy="230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EFC2EBA-A346-227B-62A3-9891497A9BAB}"/>
              </a:ext>
            </a:extLst>
          </p:cNvPr>
          <p:cNvSpPr txBox="1"/>
          <p:nvPr/>
        </p:nvSpPr>
        <p:spPr>
          <a:xfrm>
            <a:off x="10362236" y="2656580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Dashboard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BD600CF-6C27-96FC-C40F-63D84A1E67E8}"/>
              </a:ext>
            </a:extLst>
          </p:cNvPr>
          <p:cNvCxnSpPr>
            <a:cxnSpLocks/>
            <a:stCxn id="103" idx="3"/>
          </p:cNvCxnSpPr>
          <p:nvPr/>
        </p:nvCxnSpPr>
        <p:spPr>
          <a:xfrm>
            <a:off x="8990102" y="2771996"/>
            <a:ext cx="752206" cy="3301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95BE456-9F9F-1A89-A554-6719D937A1B8}"/>
              </a:ext>
            </a:extLst>
          </p:cNvPr>
          <p:cNvCxnSpPr>
            <a:cxnSpLocks/>
            <a:stCxn id="104" idx="2"/>
          </p:cNvCxnSpPr>
          <p:nvPr/>
        </p:nvCxnSpPr>
        <p:spPr>
          <a:xfrm>
            <a:off x="9707545" y="2440878"/>
            <a:ext cx="14117" cy="6612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D4B5259-C9A1-CF16-7A22-9B0D9BD2C6E0}"/>
              </a:ext>
            </a:extLst>
          </p:cNvPr>
          <p:cNvCxnSpPr>
            <a:stCxn id="106" idx="1"/>
          </p:cNvCxnSpPr>
          <p:nvPr/>
        </p:nvCxnSpPr>
        <p:spPr>
          <a:xfrm flipH="1">
            <a:off x="9742308" y="2771996"/>
            <a:ext cx="669108" cy="3301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83B6447B-FC08-61A8-2B15-DE303309F7C3}"/>
              </a:ext>
            </a:extLst>
          </p:cNvPr>
          <p:cNvSpPr txBox="1"/>
          <p:nvPr/>
        </p:nvSpPr>
        <p:spPr>
          <a:xfrm>
            <a:off x="1002698" y="4418444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4CE9DE2-A020-3167-CE7D-288E6A9A3DFB}"/>
              </a:ext>
            </a:extLst>
          </p:cNvPr>
          <p:cNvSpPr txBox="1"/>
          <p:nvPr/>
        </p:nvSpPr>
        <p:spPr>
          <a:xfrm>
            <a:off x="4235014" y="601886"/>
            <a:ext cx="3530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Business Model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21B645B-F7CE-5B5A-E796-2292DC71598E}"/>
              </a:ext>
            </a:extLst>
          </p:cNvPr>
          <p:cNvSpPr/>
          <p:nvPr/>
        </p:nvSpPr>
        <p:spPr>
          <a:xfrm>
            <a:off x="385589" y="1432193"/>
            <a:ext cx="11501610" cy="43075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60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2D8D9099-9D3D-A555-81CC-87B1229BA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82" y="1252024"/>
            <a:ext cx="11043138" cy="525829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2ACFF76-26E4-712E-B745-0531B5DCE03A}"/>
              </a:ext>
            </a:extLst>
          </p:cNvPr>
          <p:cNvSpPr txBox="1"/>
          <p:nvPr/>
        </p:nvSpPr>
        <p:spPr>
          <a:xfrm>
            <a:off x="5273499" y="447143"/>
            <a:ext cx="1731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</a:t>
            </a:r>
          </a:p>
        </p:txBody>
      </p:sp>
    </p:spTree>
    <p:extLst>
      <p:ext uri="{BB962C8B-B14F-4D97-AF65-F5344CB8AC3E}">
        <p14:creationId xmlns:p14="http://schemas.microsoft.com/office/powerpoint/2010/main" val="203819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653F60-CE2B-16EE-E06C-EA0FEFC500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378452"/>
              </p:ext>
            </p:extLst>
          </p:nvPr>
        </p:nvGraphicFramePr>
        <p:xfrm>
          <a:off x="267286" y="1097281"/>
          <a:ext cx="11657428" cy="5655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5C8E29C-FBC6-93C9-83ED-07AF52547FD9}"/>
              </a:ext>
            </a:extLst>
          </p:cNvPr>
          <p:cNvSpPr txBox="1"/>
          <p:nvPr/>
        </p:nvSpPr>
        <p:spPr>
          <a:xfrm>
            <a:off x="5001854" y="292399"/>
            <a:ext cx="2274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SWOT Analysis</a:t>
            </a:r>
          </a:p>
        </p:txBody>
      </p:sp>
    </p:spTree>
    <p:extLst>
      <p:ext uri="{BB962C8B-B14F-4D97-AF65-F5344CB8AC3E}">
        <p14:creationId xmlns:p14="http://schemas.microsoft.com/office/powerpoint/2010/main" val="650707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C926EE5-D21C-0ED6-92B3-DC58FD7255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09514"/>
              </p:ext>
            </p:extLst>
          </p:nvPr>
        </p:nvGraphicFramePr>
        <p:xfrm>
          <a:off x="618979" y="1181685"/>
          <a:ext cx="11183816" cy="4113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8142BE6-20E9-76A1-F3F9-F7F8205212F6}"/>
              </a:ext>
            </a:extLst>
          </p:cNvPr>
          <p:cNvSpPr txBox="1"/>
          <p:nvPr/>
        </p:nvSpPr>
        <p:spPr>
          <a:xfrm>
            <a:off x="3173054" y="650790"/>
            <a:ext cx="5937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 Program - PDCA</a:t>
            </a:r>
          </a:p>
        </p:txBody>
      </p:sp>
    </p:spTree>
    <p:extLst>
      <p:ext uri="{BB962C8B-B14F-4D97-AF65-F5344CB8AC3E}">
        <p14:creationId xmlns:p14="http://schemas.microsoft.com/office/powerpoint/2010/main" val="13823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8B44B1-2A34-95BA-54A6-F234026F1B07}"/>
              </a:ext>
            </a:extLst>
          </p:cNvPr>
          <p:cNvSpPr txBox="1"/>
          <p:nvPr/>
        </p:nvSpPr>
        <p:spPr>
          <a:xfrm>
            <a:off x="4439147" y="283835"/>
            <a:ext cx="2630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Scorecard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8EA88-DFE8-5CF6-8A29-577C249CB052}"/>
              </a:ext>
            </a:extLst>
          </p:cNvPr>
          <p:cNvSpPr txBox="1"/>
          <p:nvPr/>
        </p:nvSpPr>
        <p:spPr>
          <a:xfrm>
            <a:off x="2150048" y="1056184"/>
            <a:ext cx="789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Alignment of strategic objectives with measurable KPIs across below 4 dimensions:</a:t>
            </a:r>
            <a:endParaRPr lang="en-US" dirty="0">
              <a:solidFill>
                <a:srgbClr val="0374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2CEE4D-DD6A-9AA8-8395-A4D0E0FAC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957618"/>
              </p:ext>
            </p:extLst>
          </p:nvPr>
        </p:nvGraphicFramePr>
        <p:xfrm>
          <a:off x="689317" y="1617784"/>
          <a:ext cx="10818052" cy="49563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4513">
                  <a:extLst>
                    <a:ext uri="{9D8B030D-6E8A-4147-A177-3AD203B41FA5}">
                      <a16:colId xmlns:a16="http://schemas.microsoft.com/office/drawing/2014/main" val="1510714592"/>
                    </a:ext>
                  </a:extLst>
                </a:gridCol>
                <a:gridCol w="2704513">
                  <a:extLst>
                    <a:ext uri="{9D8B030D-6E8A-4147-A177-3AD203B41FA5}">
                      <a16:colId xmlns:a16="http://schemas.microsoft.com/office/drawing/2014/main" val="2687630495"/>
                    </a:ext>
                  </a:extLst>
                </a:gridCol>
                <a:gridCol w="2704513">
                  <a:extLst>
                    <a:ext uri="{9D8B030D-6E8A-4147-A177-3AD203B41FA5}">
                      <a16:colId xmlns:a16="http://schemas.microsoft.com/office/drawing/2014/main" val="2343820943"/>
                    </a:ext>
                  </a:extLst>
                </a:gridCol>
                <a:gridCol w="2704513">
                  <a:extLst>
                    <a:ext uri="{9D8B030D-6E8A-4147-A177-3AD203B41FA5}">
                      <a16:colId xmlns:a16="http://schemas.microsoft.com/office/drawing/2014/main" val="2315107288"/>
                    </a:ext>
                  </a:extLst>
                </a:gridCol>
              </a:tblGrid>
              <a:tr h="224727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b="1" u="none" strike="noStrike" dirty="0">
                          <a:solidFill>
                            <a:srgbClr val="0374B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Perspective</a:t>
                      </a:r>
                      <a:endParaRPr lang="en-IN" sz="1200" b="1" i="0" u="none" strike="noStrike" dirty="0">
                        <a:solidFill>
                          <a:srgbClr val="0374B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b="1" u="none" strike="noStrike" dirty="0">
                          <a:solidFill>
                            <a:srgbClr val="0374B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Objective</a:t>
                      </a:r>
                      <a:endParaRPr lang="en-IN" sz="1200" b="1" i="0" u="none" strike="noStrike" dirty="0">
                        <a:solidFill>
                          <a:srgbClr val="0374B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b="1" u="none" strike="noStrike">
                          <a:solidFill>
                            <a:srgbClr val="0374B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Relevant KPIs (from Dashboards)</a:t>
                      </a:r>
                      <a:endParaRPr lang="en-IN" sz="1200" b="1" i="0" u="none" strike="noStrike">
                        <a:solidFill>
                          <a:srgbClr val="0374B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b="1" u="none" strike="noStrike" dirty="0">
                          <a:solidFill>
                            <a:srgbClr val="0374B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Insights / Explanation</a:t>
                      </a:r>
                      <a:endParaRPr lang="en-IN" sz="1200" b="1" i="0" u="none" strike="noStrike" dirty="0">
                        <a:solidFill>
                          <a:srgbClr val="0374B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003716"/>
                  </a:ext>
                </a:extLst>
              </a:tr>
              <a:tr h="206549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employer ROI on job listings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Job Conversion Ratio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 how job views lead to applications and hires. Sponsored posts' ROI can be tracked here.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423263"/>
                  </a:ext>
                </a:extLst>
              </a:tr>
              <a:tr h="2801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Sponsored vs. Organic Performance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078967"/>
                  </a:ext>
                </a:extLst>
              </a:tr>
              <a:tr h="2065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Application Rate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649487"/>
                  </a:ext>
                </a:extLst>
              </a:tr>
              <a:tr h="446590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cost of low-performing listings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Jobs Nearing Expiry Without Results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underperforming posts to optimize promotion budget and listing strategy.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218268"/>
                  </a:ext>
                </a:extLst>
              </a:tr>
              <a:tr h="224727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(Employer)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 employer satisfaction and platform engagement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Top Companies by Conversion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identify strategic partners and pain points in conversion effectiveness.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730718"/>
                  </a:ext>
                </a:extLst>
              </a:tr>
              <a:tr h="2801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Companies with Least Conversion Ratio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343900"/>
                  </a:ext>
                </a:extLst>
              </a:tr>
              <a:tr h="2801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Target Companies for Sponsorship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383051"/>
                  </a:ext>
                </a:extLst>
              </a:tr>
              <a:tr h="206549">
                <a:tc rowSpan="2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listing effectiveness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Top Viewed Job Titles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 job features with industry/job seeker preferences.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229840"/>
                  </a:ext>
                </a:extLst>
              </a:tr>
              <a:tr h="2218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Benefits Provided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742822"/>
                  </a:ext>
                </a:extLst>
              </a:tr>
              <a:tr h="224727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Process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 job listing and performance cycle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Min/Max Posting Available Period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Reveals how quickly jobs receive applications and how listing time affects engagement.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038459"/>
                  </a:ext>
                </a:extLst>
              </a:tr>
              <a:tr h="2065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Jobs Trend (Posting Activity)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553976"/>
                  </a:ext>
                </a:extLst>
              </a:tr>
              <a:tr h="2065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Application Types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19973"/>
                  </a:ext>
                </a:extLst>
              </a:tr>
              <a:tr h="206549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 visibility and conversion path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Posting Domains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Guides decisions on domains and simplified application flows to increase conversion.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454598"/>
                  </a:ext>
                </a:extLst>
              </a:tr>
              <a:tr h="2247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Experience Level Summary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248440"/>
                  </a:ext>
                </a:extLst>
              </a:tr>
              <a:tr h="2247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Application Complexity Pie Chart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011663"/>
                  </a:ext>
                </a:extLst>
              </a:tr>
              <a:tr h="224727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&amp; Growth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job market trends to support strategic planning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Top Skills (placeholder in screenshot)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workforce and industry forecasting to adapt platform offerings.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658168"/>
                  </a:ext>
                </a:extLst>
              </a:tr>
              <a:tr h="2247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Industries with Highest Jobs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538363"/>
                  </a:ext>
                </a:extLst>
              </a:tr>
              <a:tr h="2065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Work Type Mix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816515"/>
                  </a:ext>
                </a:extLst>
              </a:tr>
              <a:tr h="206549">
                <a:tc rowSpan="2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 regional talent strategy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Views Distribution by State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geographic areas to target or improve listing visibility.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776119"/>
                  </a:ext>
                </a:extLst>
              </a:tr>
              <a:tr h="2218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States with Least Interaction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0" marR="3150" marT="315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033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117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A46EC-49FC-7BCF-772A-0DA7B154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CB1C2A-FFB4-8FEE-43A1-A818D875A120}"/>
              </a:ext>
            </a:extLst>
          </p:cNvPr>
          <p:cNvSpPr txBox="1"/>
          <p:nvPr/>
        </p:nvSpPr>
        <p:spPr>
          <a:xfrm>
            <a:off x="3805533" y="496045"/>
            <a:ext cx="4580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Salesforce CRM sales Integration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A39DE-EAB9-87F6-49E2-27DEF13D5D26}"/>
              </a:ext>
            </a:extLst>
          </p:cNvPr>
          <p:cNvSpPr txBox="1"/>
          <p:nvPr/>
        </p:nvSpPr>
        <p:spPr>
          <a:xfrm>
            <a:off x="693264" y="812568"/>
            <a:ext cx="1132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Accounts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186B42-6EAD-4D15-B523-639D2E4A2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06" y="1209346"/>
            <a:ext cx="10584336" cy="216076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F51E1D-E966-BEA0-6D16-BF2D6D03237D}"/>
              </a:ext>
            </a:extLst>
          </p:cNvPr>
          <p:cNvSpPr txBox="1"/>
          <p:nvPr/>
        </p:nvSpPr>
        <p:spPr>
          <a:xfrm>
            <a:off x="693264" y="3487894"/>
            <a:ext cx="1104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Contacts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FEA7FDB-00A3-D5BA-A423-211DF4167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06" y="3857226"/>
            <a:ext cx="10584336" cy="274143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56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B79D4-6442-355E-291D-40F5E46D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60F41-EEE4-19BF-848C-E448BF7A473B}"/>
              </a:ext>
            </a:extLst>
          </p:cNvPr>
          <p:cNvSpPr txBox="1"/>
          <p:nvPr/>
        </p:nvSpPr>
        <p:spPr>
          <a:xfrm>
            <a:off x="3805533" y="496045"/>
            <a:ext cx="4580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Salesforce CRM sales Integration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12FEC-7C71-C797-6FF9-D872C4E2291D}"/>
              </a:ext>
            </a:extLst>
          </p:cNvPr>
          <p:cNvSpPr txBox="1"/>
          <p:nvPr/>
        </p:nvSpPr>
        <p:spPr>
          <a:xfrm>
            <a:off x="782475" y="3686629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Opportunities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CD93904-8F4E-6618-3596-F8BB69C9D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69" y="4114855"/>
            <a:ext cx="10627878" cy="22471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B986BCF-0BC0-A64F-3D78-3DDF36B29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50" y="1209034"/>
            <a:ext cx="10627878" cy="24458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0A2C3A-2AEC-4887-784D-7B9322D1935D}"/>
              </a:ext>
            </a:extLst>
          </p:cNvPr>
          <p:cNvSpPr txBox="1"/>
          <p:nvPr/>
        </p:nvSpPr>
        <p:spPr>
          <a:xfrm>
            <a:off x="868378" y="813204"/>
            <a:ext cx="787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Leads</a:t>
            </a:r>
          </a:p>
        </p:txBody>
      </p:sp>
    </p:spTree>
    <p:extLst>
      <p:ext uri="{BB962C8B-B14F-4D97-AF65-F5344CB8AC3E}">
        <p14:creationId xmlns:p14="http://schemas.microsoft.com/office/powerpoint/2010/main" val="1145341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DA922-6131-755D-72FA-22107684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49E82C-2633-6AA9-C536-FEC5F2383A01}"/>
              </a:ext>
            </a:extLst>
          </p:cNvPr>
          <p:cNvSpPr txBox="1"/>
          <p:nvPr/>
        </p:nvSpPr>
        <p:spPr>
          <a:xfrm>
            <a:off x="3805533" y="496045"/>
            <a:ext cx="4580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Salesforce CRM sales Integration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2BA987-D744-28BC-E65F-17B708A066DE}"/>
              </a:ext>
            </a:extLst>
          </p:cNvPr>
          <p:cNvSpPr txBox="1"/>
          <p:nvPr/>
        </p:nvSpPr>
        <p:spPr>
          <a:xfrm>
            <a:off x="693264" y="812568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Email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1266B0-2BA0-DA65-C832-A027BB7A5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64" y="1379222"/>
            <a:ext cx="9450196" cy="4666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2997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5FB477-785C-2EC9-B1C6-1B218639995C}"/>
              </a:ext>
            </a:extLst>
          </p:cNvPr>
          <p:cNvSpPr txBox="1"/>
          <p:nvPr/>
        </p:nvSpPr>
        <p:spPr>
          <a:xfrm>
            <a:off x="4214063" y="440290"/>
            <a:ext cx="2920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Data Source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0830D-9B51-1137-6C99-5C2B54739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18" y="1141149"/>
            <a:ext cx="10832122" cy="52208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9000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EA61BA-78F1-F7D2-1C3D-DF52B93238D1}"/>
              </a:ext>
            </a:extLst>
          </p:cNvPr>
          <p:cNvSpPr txBox="1"/>
          <p:nvPr/>
        </p:nvSpPr>
        <p:spPr>
          <a:xfrm>
            <a:off x="5317587" y="234685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9C87F5-BDC0-B6E5-D595-D72D50687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83" y="790553"/>
            <a:ext cx="11482465" cy="5832761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0701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7D3FB-E01E-5F72-A365-122D2FB0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DCB576-676C-ACBE-86BD-3001F1B88481}"/>
              </a:ext>
            </a:extLst>
          </p:cNvPr>
          <p:cNvSpPr txBox="1"/>
          <p:nvPr/>
        </p:nvSpPr>
        <p:spPr>
          <a:xfrm>
            <a:off x="5239530" y="234685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2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1BF4A5-1789-AC09-05AF-32A9029CD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" y="829994"/>
            <a:ext cx="11872913" cy="579332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496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8A18-BA24-67D7-65FE-ABE98C63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E36EDA-0FD1-99C6-5E64-7F305459B3B6}"/>
              </a:ext>
            </a:extLst>
          </p:cNvPr>
          <p:cNvSpPr txBox="1"/>
          <p:nvPr/>
        </p:nvSpPr>
        <p:spPr>
          <a:xfrm>
            <a:off x="5261832" y="167779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3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5A64FE7-B2D2-D75C-47C7-0F34F9111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696350"/>
            <a:ext cx="11877675" cy="59269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039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DC592C-ADDB-9F76-47A5-06B995F24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523755"/>
              </p:ext>
            </p:extLst>
          </p:nvPr>
        </p:nvGraphicFramePr>
        <p:xfrm>
          <a:off x="1483111" y="1137425"/>
          <a:ext cx="9679259" cy="4739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777">
                  <a:extLst>
                    <a:ext uri="{9D8B030D-6E8A-4147-A177-3AD203B41FA5}">
                      <a16:colId xmlns:a16="http://schemas.microsoft.com/office/drawing/2014/main" val="3354959309"/>
                    </a:ext>
                  </a:extLst>
                </a:gridCol>
                <a:gridCol w="2011723">
                  <a:extLst>
                    <a:ext uri="{9D8B030D-6E8A-4147-A177-3AD203B41FA5}">
                      <a16:colId xmlns:a16="http://schemas.microsoft.com/office/drawing/2014/main" val="3437528942"/>
                    </a:ext>
                  </a:extLst>
                </a:gridCol>
                <a:gridCol w="5793759">
                  <a:extLst>
                    <a:ext uri="{9D8B030D-6E8A-4147-A177-3AD203B41FA5}">
                      <a16:colId xmlns:a16="http://schemas.microsoft.com/office/drawing/2014/main" val="3611584940"/>
                    </a:ext>
                  </a:extLst>
                </a:gridCol>
              </a:tblGrid>
              <a:tr h="469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Tool / Framework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Business Use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941353"/>
                  </a:ext>
                </a:extLst>
              </a:tr>
              <a:tr h="47505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Salesforce Sales Cloud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CRM Sales System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Central platform for managing employer accounts, contacts, job listings, opportunities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532499"/>
                  </a:ext>
                </a:extLst>
              </a:tr>
              <a:tr h="47505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LinkedIn Sales Navigator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Sales Intelligence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Salesforce CRM connector to LinkedIn data: Fetch job poster’s activity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35914"/>
                  </a:ext>
                </a:extLst>
              </a:tr>
              <a:tr h="469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Tableau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BI / Reporting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Build interactive dashboards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85857"/>
                  </a:ext>
                </a:extLst>
              </a:tr>
              <a:tr h="47505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Salesforce Connector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BI &amp; Analytics Tool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Connect salesforce CRM sales data to Tableau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887271"/>
                  </a:ext>
                </a:extLst>
              </a:tr>
              <a:tr h="47505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Miro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Planning / Collaboration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Visualize process flows, journey, actions, steps, plan, strategy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68652"/>
                  </a:ext>
                </a:extLst>
              </a:tr>
              <a:tr h="47505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draw.io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Data Modeling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Create ERDs and system architecture diagrams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452190"/>
                  </a:ext>
                </a:extLst>
              </a:tr>
              <a:tr h="47505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SWOT Analysis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Strategic Framework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Evaluate LinkedIn Jobs' strengths/weaknesses in talent solution space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855598"/>
                  </a:ext>
                </a:extLst>
              </a:tr>
              <a:tr h="47505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Balanced Scorecard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Strategic Performance Mgmt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Track KPIs across Financial, Customer, Internal Ops, Learning &amp; Growth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307036"/>
                  </a:ext>
                </a:extLst>
              </a:tr>
              <a:tr h="47505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PDCA - CIP (Continuous Improvement Process)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Process Framework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Iterative improvement on CRM flows, sales strategy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348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5710BB-FF40-2E68-C9BA-27B4E14B17D9}"/>
              </a:ext>
            </a:extLst>
          </p:cNvPr>
          <p:cNvSpPr txBox="1"/>
          <p:nvPr/>
        </p:nvSpPr>
        <p:spPr>
          <a:xfrm>
            <a:off x="3814503" y="390803"/>
            <a:ext cx="3080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Framework</a:t>
            </a:r>
          </a:p>
        </p:txBody>
      </p:sp>
    </p:spTree>
    <p:extLst>
      <p:ext uri="{BB962C8B-B14F-4D97-AF65-F5344CB8AC3E}">
        <p14:creationId xmlns:p14="http://schemas.microsoft.com/office/powerpoint/2010/main" val="2419177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4D3600-7CD1-0468-983A-8527A01CB935}"/>
              </a:ext>
            </a:extLst>
          </p:cNvPr>
          <p:cNvSpPr txBox="1"/>
          <p:nvPr/>
        </p:nvSpPr>
        <p:spPr>
          <a:xfrm>
            <a:off x="5137895" y="860871"/>
            <a:ext cx="1380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E13B22-0574-832B-EDF8-D599E5C3D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576740"/>
              </p:ext>
            </p:extLst>
          </p:nvPr>
        </p:nvGraphicFramePr>
        <p:xfrm>
          <a:off x="1533933" y="1880343"/>
          <a:ext cx="10194017" cy="1562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5230">
                  <a:extLst>
                    <a:ext uri="{9D8B030D-6E8A-4147-A177-3AD203B41FA5}">
                      <a16:colId xmlns:a16="http://schemas.microsoft.com/office/drawing/2014/main" val="877494846"/>
                    </a:ext>
                  </a:extLst>
                </a:gridCol>
                <a:gridCol w="7658787">
                  <a:extLst>
                    <a:ext uri="{9D8B030D-6E8A-4147-A177-3AD203B41FA5}">
                      <a16:colId xmlns:a16="http://schemas.microsoft.com/office/drawing/2014/main" val="842373599"/>
                    </a:ext>
                  </a:extLst>
                </a:gridCol>
              </a:tblGrid>
              <a:tr h="285086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 dirty="0">
                          <a:solidFill>
                            <a:srgbClr val="0374B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Role</a:t>
                      </a:r>
                      <a:endParaRPr lang="en-IN" sz="2000" b="1" i="0" u="none" strike="noStrike" dirty="0">
                        <a:solidFill>
                          <a:srgbClr val="0374B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45" marR="7745" marT="774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 dirty="0">
                          <a:solidFill>
                            <a:srgbClr val="0374B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Activities</a:t>
                      </a:r>
                      <a:endParaRPr lang="en-IN" sz="2000" b="1" i="0" u="none" strike="noStrike" dirty="0">
                        <a:solidFill>
                          <a:srgbClr val="0374B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45" marR="7745" marT="774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716832"/>
                  </a:ext>
                </a:extLst>
              </a:tr>
              <a:tr h="263554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Sales/Account Reps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45" marR="7745" marT="774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employer activity, follow up on poor listings, upsell premium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45" marR="7745" marT="774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670958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Recruiters (Employers)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45" marR="7745" marT="774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listing insights (embedded Tableau), receive automated suggestions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45" marR="7745" marT="774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609373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Marketing Team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45" marR="7745" marT="774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campaigns to retain clients or promote sponsorship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45" marR="7745" marT="774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306121"/>
                  </a:ext>
                </a:extLst>
              </a:tr>
              <a:tr h="283922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Executives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45" marR="7745" marT="774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platform-wide dashboards on churn, ROI, engagement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45" marR="7745" marT="774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337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620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C7312-10FE-B287-D7DC-BC8E7DE46E89}"/>
              </a:ext>
            </a:extLst>
          </p:cNvPr>
          <p:cNvSpPr txBox="1"/>
          <p:nvPr/>
        </p:nvSpPr>
        <p:spPr>
          <a:xfrm>
            <a:off x="3124674" y="1631853"/>
            <a:ext cx="594265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/>
            <a:r>
              <a:rPr lang="en-US" sz="48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 Vikas Sahni</a:t>
            </a:r>
          </a:p>
          <a:p>
            <a:pPr algn="ctr"/>
            <a:r>
              <a:rPr lang="en-US" sz="48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</a:p>
          <a:p>
            <a:pPr algn="ctr"/>
            <a:r>
              <a:rPr lang="en-US" sz="4800" b="1" dirty="0">
                <a:solidFill>
                  <a:srgbClr val="0374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1618148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854</Words>
  <Application>Microsoft Macintosh PowerPoint</Application>
  <PresentationFormat>Widescreen</PresentationFormat>
  <Paragraphs>184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Chandra Raju Kurapati</dc:creator>
  <cp:lastModifiedBy>Surya Chandra Raju Kurapati</cp:lastModifiedBy>
  <cp:revision>31</cp:revision>
  <dcterms:created xsi:type="dcterms:W3CDTF">2025-08-02T11:22:55Z</dcterms:created>
  <dcterms:modified xsi:type="dcterms:W3CDTF">2025-08-07T11:13:33Z</dcterms:modified>
</cp:coreProperties>
</file>